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2"/>
  </p:notesMasterIdLst>
  <p:sldIdLst>
    <p:sldId id="256" r:id="rId2"/>
    <p:sldId id="257" r:id="rId3"/>
    <p:sldId id="258" r:id="rId4"/>
    <p:sldId id="271" r:id="rId5"/>
    <p:sldId id="272" r:id="rId6"/>
    <p:sldId id="273" r:id="rId7"/>
    <p:sldId id="274" r:id="rId8"/>
    <p:sldId id="260" r:id="rId9"/>
    <p:sldId id="261" r:id="rId10"/>
    <p:sldId id="262" r:id="rId11"/>
    <p:sldId id="263" r:id="rId12"/>
    <p:sldId id="264" r:id="rId13"/>
    <p:sldId id="265" r:id="rId14"/>
    <p:sldId id="275" r:id="rId15"/>
    <p:sldId id="276" r:id="rId16"/>
    <p:sldId id="277" r:id="rId17"/>
    <p:sldId id="280" r:id="rId18"/>
    <p:sldId id="281" r:id="rId19"/>
    <p:sldId id="286" r:id="rId20"/>
    <p:sldId id="283" r:id="rId21"/>
    <p:sldId id="278" r:id="rId22"/>
    <p:sldId id="279" r:id="rId23"/>
    <p:sldId id="284" r:id="rId24"/>
    <p:sldId id="267" r:id="rId25"/>
    <p:sldId id="270" r:id="rId26"/>
    <p:sldId id="266" r:id="rId27"/>
    <p:sldId id="287" r:id="rId28"/>
    <p:sldId id="285" r:id="rId29"/>
    <p:sldId id="268" r:id="rId30"/>
    <p:sldId id="269" r:id="rId31"/>
  </p:sldIdLst>
  <p:sldSz cx="9144000" cy="6858000" type="screen4x3"/>
  <p:notesSz cx="6858000" cy="9144000"/>
  <p:embeddedFontLst>
    <p:embeddedFont>
      <p:font typeface="Archivo Narrow" panose="020B0604020202020204" charset="0"/>
      <p:regular r:id="rId33"/>
      <p:bold r:id="rId34"/>
      <p:italic r:id="rId35"/>
      <p:boldItalic r:id="rId36"/>
    </p:embeddedFont>
    <p:embeddedFont>
      <p:font typeface="Georgia" panose="02040502050405020303" pitchFamily="18"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34B4C5-7A95-4660-8744-F58B21201D82}" v="81" dt="2024-12-05T15:44:49.459"/>
    <p1510:client id="{D7DE918A-E686-4661-9887-9A98D6D66561}" v="61" dt="2024-12-05T12:46:33.443"/>
    <p1510:client id="{D8E807B1-E47D-47FA-936A-09BB0B2F0B53}" v="66" dt="2024-12-05T15:37:23.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3" name="Google Shape;11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0" y="66675"/>
            <a:ext cx="9144000" cy="1420813"/>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flipH="1">
            <a:off x="0" y="0"/>
            <a:ext cx="9144000" cy="1420813"/>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
          <p:cNvPicPr preferRelativeResize="0"/>
          <p:nvPr/>
        </p:nvPicPr>
        <p:blipFill rotWithShape="1">
          <a:blip r:embed="rId2">
            <a:alphaModFix/>
          </a:blip>
          <a:srcRect/>
          <a:stretch/>
        </p:blipFill>
        <p:spPr>
          <a:xfrm>
            <a:off x="6091238" y="342900"/>
            <a:ext cx="2463800" cy="779463"/>
          </a:xfrm>
          <a:prstGeom prst="rect">
            <a:avLst/>
          </a:prstGeom>
          <a:noFill/>
          <a:ln>
            <a:noFill/>
          </a:ln>
        </p:spPr>
      </p:pic>
      <p:sp>
        <p:nvSpPr>
          <p:cNvPr id="13" name="Google Shape;13;p2"/>
          <p:cNvSpPr/>
          <p:nvPr/>
        </p:nvSpPr>
        <p:spPr>
          <a:xfrm>
            <a:off x="-11113" y="5919788"/>
            <a:ext cx="9155113" cy="938212"/>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txBox="1"/>
          <p:nvPr/>
        </p:nvSpPr>
        <p:spPr>
          <a:xfrm>
            <a:off x="0" y="5919788"/>
            <a:ext cx="3571875" cy="93821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MISSION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b="0" i="0" u="none" strike="noStrike" cap="none">
              <a:solidFill>
                <a:srgbClr val="FFFFFF"/>
              </a:solidFill>
              <a:latin typeface="Georgia"/>
              <a:ea typeface="Georgia"/>
              <a:cs typeface="Georgia"/>
              <a:sym typeface="Georgia"/>
            </a:endParaRPr>
          </a:p>
        </p:txBody>
      </p:sp>
      <p:sp>
        <p:nvSpPr>
          <p:cNvPr id="15" name="Google Shape;15;p2"/>
          <p:cNvSpPr txBox="1"/>
          <p:nvPr/>
        </p:nvSpPr>
        <p:spPr>
          <a:xfrm>
            <a:off x="3708400" y="5919788"/>
            <a:ext cx="2032000" cy="64135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VISION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Excellence and Service</a:t>
            </a:r>
            <a:endParaRPr sz="1100" b="0" i="0" u="none" strike="noStrike" cap="none">
              <a:solidFill>
                <a:srgbClr val="FFFFFF"/>
              </a:solidFill>
              <a:latin typeface="Georgia"/>
              <a:ea typeface="Georgia"/>
              <a:cs typeface="Georgia"/>
              <a:sym typeface="Georgia"/>
            </a:endParaRPr>
          </a:p>
        </p:txBody>
      </p:sp>
      <p:sp>
        <p:nvSpPr>
          <p:cNvPr id="16" name="Google Shape;16;p2"/>
          <p:cNvSpPr txBox="1"/>
          <p:nvPr/>
        </p:nvSpPr>
        <p:spPr>
          <a:xfrm>
            <a:off x="6067425" y="5919788"/>
            <a:ext cx="2984500" cy="93821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CORE  VALUES</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Faith in God |  Moral Uprightness</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 Love of Fellow Beings   </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Social Responsibility | Pursuit of Excellence</a:t>
            </a:r>
            <a:endParaRPr sz="1100" b="0" i="0" u="none" strike="noStrike" cap="none">
              <a:solidFill>
                <a:srgbClr val="FFFFFF"/>
              </a:solidFill>
              <a:latin typeface="Georgia"/>
              <a:ea typeface="Georgia"/>
              <a:cs typeface="Georgia"/>
              <a:sym typeface="Georgia"/>
            </a:endParaRPr>
          </a:p>
        </p:txBody>
      </p:sp>
      <p:sp>
        <p:nvSpPr>
          <p:cNvPr id="17" name="Google Shape;17;p2"/>
          <p:cNvSpPr txBox="1">
            <a:spLocks noGrp="1"/>
          </p:cNvSpPr>
          <p:nvPr>
            <p:ph type="ctrTitle"/>
          </p:nvPr>
        </p:nvSpPr>
        <p:spPr>
          <a:xfrm>
            <a:off x="311700" y="1886797"/>
            <a:ext cx="8520600" cy="1842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8" name="Google Shape;18;p2"/>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 name="Google Shape;19;p2"/>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3"/>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23" name="Google Shape;23;p3"/>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26" name="Google Shape;26;p3"/>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lvl="0" indent="-368300" algn="l">
              <a:lnSpc>
                <a:spcPct val="100000"/>
              </a:lnSpc>
              <a:spcBef>
                <a:spcPts val="0"/>
              </a:spcBef>
              <a:spcAft>
                <a:spcPts val="0"/>
              </a:spcAft>
              <a:buSzPts val="2200"/>
              <a:buChar char="●"/>
              <a:defRPr>
                <a:latin typeface="Times New Roman"/>
                <a:ea typeface="Times New Roman"/>
                <a:cs typeface="Times New Roman"/>
                <a:sym typeface="Times New Roman"/>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8" name="Google Shape;28;p3"/>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4"/>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32" name="Google Shape;32;p4"/>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35" name="Google Shape;35;p4"/>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4"/>
          <p:cNvSpPr txBox="1">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37" name="Google Shape;37;p4"/>
          <p:cNvSpPr txBox="1">
            <a:spLocks noGrp="1"/>
          </p:cNvSpPr>
          <p:nvPr>
            <p:ph type="body" idx="2"/>
          </p:nvPr>
        </p:nvSpPr>
        <p:spPr>
          <a:xfrm>
            <a:off x="4832400" y="1536633"/>
            <a:ext cx="39999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38" name="Google Shape;38;p4"/>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5"/>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5"/>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42" name="Google Shape;42;p5"/>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5"/>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5"/>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45" name="Google Shape;45;p5"/>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6" name="Google Shape;46;p5"/>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7"/>
        <p:cNvGrpSpPr/>
        <p:nvPr/>
      </p:nvGrpSpPr>
      <p:grpSpPr>
        <a:xfrm>
          <a:off x="0" y="0"/>
          <a:ext cx="0" cy="0"/>
          <a:chOff x="0" y="0"/>
          <a:chExt cx="0" cy="0"/>
        </a:xfrm>
      </p:grpSpPr>
      <p:sp>
        <p:nvSpPr>
          <p:cNvPr id="48" name="Google Shape;48;p6"/>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50" name="Google Shape;50;p6"/>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53" name="Google Shape;53;p6"/>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4" name="Google Shape;54;p6"/>
          <p:cNvSpPr txBox="1">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Char char="●"/>
              <a:defRPr sz="12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55" name="Google Shape;55;p6"/>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6"/>
        <p:cNvGrpSpPr/>
        <p:nvPr/>
      </p:nvGrpSpPr>
      <p:grpSpPr>
        <a:xfrm>
          <a:off x="0" y="0"/>
          <a:ext cx="0" cy="0"/>
          <a:chOff x="0" y="0"/>
          <a:chExt cx="0" cy="0"/>
        </a:xfrm>
      </p:grpSpPr>
      <p:sp>
        <p:nvSpPr>
          <p:cNvPr id="57" name="Google Shape;57;p7"/>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59" name="Google Shape;59;p7"/>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7"/>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7"/>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62" name="Google Shape;62;p7"/>
          <p:cNvSpPr txBox="1">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3" name="Google Shape;63;p7"/>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4"/>
        <p:cNvGrpSpPr/>
        <p:nvPr/>
      </p:nvGrpSpPr>
      <p:grpSpPr>
        <a:xfrm>
          <a:off x="0" y="0"/>
          <a:ext cx="0" cy="0"/>
          <a:chOff x="0" y="0"/>
          <a:chExt cx="0" cy="0"/>
        </a:xfrm>
      </p:grpSpPr>
      <p:sp>
        <p:nvSpPr>
          <p:cNvPr id="65" name="Google Shape;65;p8"/>
          <p:cNvSpPr/>
          <p:nvPr/>
        </p:nvSpPr>
        <p:spPr>
          <a:xfrm>
            <a:off x="4572000" y="0"/>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8"/>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8"/>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8" name="Google Shape;68;p8"/>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8"/>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8"/>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71" name="Google Shape;71;p8"/>
          <p:cNvSpPr txBox="1">
            <a:spLocks noGrp="1"/>
          </p:cNvSpPr>
          <p:nvPr>
            <p:ph type="title"/>
          </p:nvPr>
        </p:nvSpPr>
        <p:spPr>
          <a:xfrm>
            <a:off x="265500" y="1644233"/>
            <a:ext cx="40452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2" name="Google Shape;72;p8"/>
          <p:cNvSpPr txBox="1">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3" name="Google Shape;73;p8"/>
          <p:cNvSpPr txBox="1">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SzPts val="22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74" name="Google Shape;74;p8"/>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5"/>
        <p:cNvGrpSpPr/>
        <p:nvPr/>
      </p:nvGrpSpPr>
      <p:grpSpPr>
        <a:xfrm>
          <a:off x="0" y="0"/>
          <a:ext cx="0" cy="0"/>
          <a:chOff x="0" y="0"/>
          <a:chExt cx="0" cy="0"/>
        </a:xfrm>
      </p:grpSpPr>
      <p:sp>
        <p:nvSpPr>
          <p:cNvPr id="76" name="Google Shape;76;p9"/>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9"/>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78" name="Google Shape;78;p9"/>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9"/>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9"/>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81" name="Google Shape;81;p9"/>
          <p:cNvSpPr txBox="1">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200"/>
              <a:buNone/>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2" name="Google Shape;82;p9"/>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3"/>
        <p:cNvGrpSpPr/>
        <p:nvPr/>
      </p:nvGrpSpPr>
      <p:grpSpPr>
        <a:xfrm>
          <a:off x="0" y="0"/>
          <a:ext cx="0" cy="0"/>
          <a:chOff x="0" y="0"/>
          <a:chExt cx="0" cy="0"/>
        </a:xfrm>
      </p:grpSpPr>
      <p:sp>
        <p:nvSpPr>
          <p:cNvPr id="84" name="Google Shape;84;p10"/>
          <p:cNvSpPr/>
          <p:nvPr/>
        </p:nvSpPr>
        <p:spPr>
          <a:xfrm>
            <a:off x="-11113" y="6348413"/>
            <a:ext cx="9155113" cy="509587"/>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0"/>
          <p:cNvSpPr txBox="1"/>
          <p:nvPr/>
        </p:nvSpPr>
        <p:spPr>
          <a:xfrm>
            <a:off x="3343275" y="6430963"/>
            <a:ext cx="2457450" cy="2905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6" name="Google Shape;86;p10"/>
          <p:cNvSpPr/>
          <p:nvPr/>
        </p:nvSpPr>
        <p:spPr>
          <a:xfrm rot="10800000">
            <a:off x="6945313" y="0"/>
            <a:ext cx="2208212" cy="614363"/>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0"/>
          <p:cNvSpPr/>
          <p:nvPr/>
        </p:nvSpPr>
        <p:spPr>
          <a:xfrm rot="10800000">
            <a:off x="-1588" y="0"/>
            <a:ext cx="9155113" cy="365125"/>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0"/>
          <p:cNvSpPr txBox="1"/>
          <p:nvPr/>
        </p:nvSpPr>
        <p:spPr>
          <a:xfrm>
            <a:off x="6945313" y="247650"/>
            <a:ext cx="2208212" cy="23177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
        <p:nvSpPr>
          <p:cNvPr id="89" name="Google Shape;89;p10"/>
          <p:cNvSpPr txBox="1">
            <a:spLocks noGrp="1"/>
          </p:cNvSpPr>
          <p:nvPr>
            <p:ph type="title"/>
          </p:nvPr>
        </p:nvSpPr>
        <p:spPr>
          <a:xfrm>
            <a:off x="311700" y="1474833"/>
            <a:ext cx="8520600" cy="2618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90" name="Google Shape;90;p10"/>
          <p:cNvSpPr txBox="1">
            <a:spLocks noGrp="1"/>
          </p:cNvSpPr>
          <p:nvPr>
            <p:ph type="body" idx="1"/>
          </p:nvPr>
        </p:nvSpPr>
        <p:spPr>
          <a:xfrm>
            <a:off x="311700" y="4202967"/>
            <a:ext cx="8520600" cy="1734300"/>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SzPts val="2200"/>
              <a:buChar char="●"/>
              <a:defRPr/>
            </a:lvl1pPr>
            <a:lvl2pPr marL="914400" lvl="1" indent="-342900" algn="ctr">
              <a:lnSpc>
                <a:spcPct val="100000"/>
              </a:lnSpc>
              <a:spcBef>
                <a:spcPts val="600"/>
              </a:spcBef>
              <a:spcAft>
                <a:spcPts val="0"/>
              </a:spcAft>
              <a:buSzPts val="1800"/>
              <a:buChar char="○"/>
              <a:defRPr/>
            </a:lvl2pPr>
            <a:lvl3pPr marL="1371600" lvl="2" indent="-342900" algn="ctr">
              <a:lnSpc>
                <a:spcPct val="100000"/>
              </a:lnSpc>
              <a:spcBef>
                <a:spcPts val="600"/>
              </a:spcBef>
              <a:spcAft>
                <a:spcPts val="0"/>
              </a:spcAft>
              <a:buSzPts val="1800"/>
              <a:buChar char="■"/>
              <a:defRPr/>
            </a:lvl3pPr>
            <a:lvl4pPr marL="1828800" lvl="3" indent="-342900" algn="ctr">
              <a:lnSpc>
                <a:spcPct val="100000"/>
              </a:lnSpc>
              <a:spcBef>
                <a:spcPts val="600"/>
              </a:spcBef>
              <a:spcAft>
                <a:spcPts val="0"/>
              </a:spcAft>
              <a:buSzPts val="1800"/>
              <a:buChar char="●"/>
              <a:defRPr/>
            </a:lvl4pPr>
            <a:lvl5pPr marL="2286000" lvl="4" indent="-342900" algn="ctr">
              <a:lnSpc>
                <a:spcPct val="100000"/>
              </a:lnSpc>
              <a:spcBef>
                <a:spcPts val="600"/>
              </a:spcBef>
              <a:spcAft>
                <a:spcPts val="0"/>
              </a:spcAft>
              <a:buSzPts val="1800"/>
              <a:buChar char="○"/>
              <a:defRPr/>
            </a:lvl5pPr>
            <a:lvl6pPr marL="2743200" lvl="5" indent="-342900" algn="ctr">
              <a:lnSpc>
                <a:spcPct val="100000"/>
              </a:lnSpc>
              <a:spcBef>
                <a:spcPts val="600"/>
              </a:spcBef>
              <a:spcAft>
                <a:spcPts val="0"/>
              </a:spcAft>
              <a:buSzPts val="1800"/>
              <a:buChar char="■"/>
              <a:defRPr/>
            </a:lvl6pPr>
            <a:lvl7pPr marL="3200400" lvl="6" indent="-342900" algn="ctr">
              <a:lnSpc>
                <a:spcPct val="100000"/>
              </a:lnSpc>
              <a:spcBef>
                <a:spcPts val="600"/>
              </a:spcBef>
              <a:spcAft>
                <a:spcPts val="0"/>
              </a:spcAft>
              <a:buSzPts val="1800"/>
              <a:buChar char="●"/>
              <a:defRPr/>
            </a:lvl7pPr>
            <a:lvl8pPr marL="3657600" lvl="7" indent="-342900" algn="ctr">
              <a:lnSpc>
                <a:spcPct val="100000"/>
              </a:lnSpc>
              <a:spcBef>
                <a:spcPts val="600"/>
              </a:spcBef>
              <a:spcAft>
                <a:spcPts val="0"/>
              </a:spcAft>
              <a:buSzPts val="1800"/>
              <a:buChar char="○"/>
              <a:defRPr/>
            </a:lvl8pPr>
            <a:lvl9pPr marL="4114800" lvl="8" indent="-342900" algn="ctr">
              <a:lnSpc>
                <a:spcPct val="100000"/>
              </a:lnSpc>
              <a:spcBef>
                <a:spcPts val="600"/>
              </a:spcBef>
              <a:spcAft>
                <a:spcPts val="600"/>
              </a:spcAft>
              <a:buSzPts val="1800"/>
              <a:buChar char="■"/>
              <a:defRPr/>
            </a:lvl9pPr>
          </a:lstStyle>
          <a:p>
            <a:endParaRPr/>
          </a:p>
        </p:txBody>
      </p:sp>
      <p:sp>
        <p:nvSpPr>
          <p:cNvPr id="91" name="Google Shape;91;p10"/>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150" y="593725"/>
            <a:ext cx="8521700" cy="7635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150" y="1536700"/>
            <a:ext cx="8521700" cy="4554538"/>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Times New Roman"/>
                <a:ea typeface="Times New Roman"/>
                <a:cs typeface="Times New Roman"/>
                <a:sym typeface="Times New Roman"/>
              </a:defRPr>
            </a:lvl1pPr>
            <a:lvl2pPr marL="914400" marR="0" lvl="1"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2"/>
          <p:cNvSpPr txBox="1">
            <a:spLocks noGrp="1"/>
          </p:cNvSpPr>
          <p:nvPr>
            <p:ph type="ctrTitle"/>
          </p:nvPr>
        </p:nvSpPr>
        <p:spPr>
          <a:xfrm>
            <a:off x="134938" y="822325"/>
            <a:ext cx="8990012" cy="165735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600"/>
              <a:buNone/>
            </a:pPr>
            <a:r>
              <a:rPr lang="en-US" sz="2800" b="1">
                <a:solidFill>
                  <a:schemeClr val="dk1"/>
                </a:solidFill>
              </a:rPr>
              <a:t> Intrusion Detection System(IDS)</a:t>
            </a:r>
            <a:endParaRPr sz="2400" b="1"/>
          </a:p>
        </p:txBody>
      </p:sp>
      <p:sp>
        <p:nvSpPr>
          <p:cNvPr id="104" name="Google Shape;104;p12"/>
          <p:cNvSpPr txBox="1">
            <a:spLocks noGrp="1"/>
          </p:cNvSpPr>
          <p:nvPr>
            <p:ph type="subTitle" idx="1"/>
          </p:nvPr>
        </p:nvSpPr>
        <p:spPr>
          <a:xfrm>
            <a:off x="311150" y="2492375"/>
            <a:ext cx="8582025" cy="3384550"/>
          </a:xfrm>
          <a:prstGeom prst="rect">
            <a:avLst/>
          </a:prstGeom>
          <a:noFill/>
          <a:ln>
            <a:noFill/>
          </a:ln>
        </p:spPr>
        <p:txBody>
          <a:bodyPr spcFirstLastPara="1" wrap="square" lIns="91425" tIns="91425" rIns="91425" bIns="91425" anchor="t" anchorCtr="0">
            <a:noAutofit/>
          </a:bodyPr>
          <a:lstStyle/>
          <a:p>
            <a:pPr marL="457200" lvl="0" indent="-368300" algn="ctr" rtl="0">
              <a:lnSpc>
                <a:spcPct val="100000"/>
              </a:lnSpc>
              <a:spcBef>
                <a:spcPts val="0"/>
              </a:spcBef>
              <a:spcAft>
                <a:spcPts val="0"/>
              </a:spcAft>
              <a:buClr>
                <a:srgbClr val="000000"/>
              </a:buClr>
              <a:buSzPts val="2800"/>
              <a:buFont typeface="Archivo Narrow"/>
              <a:buNone/>
            </a:pPr>
            <a:endParaRPr sz="1600" b="1" i="1"/>
          </a:p>
          <a:p>
            <a:pPr marL="457200" lvl="0" indent="-368300" algn="ctr" rtl="0">
              <a:lnSpc>
                <a:spcPct val="100000"/>
              </a:lnSpc>
              <a:spcBef>
                <a:spcPts val="0"/>
              </a:spcBef>
              <a:spcAft>
                <a:spcPts val="0"/>
              </a:spcAft>
              <a:buClr>
                <a:srgbClr val="000000"/>
              </a:buClr>
              <a:buSzPts val="2800"/>
              <a:buFont typeface="Archivo Narrow"/>
              <a:buNone/>
            </a:pPr>
            <a:endParaRPr sz="1600" b="1" i="1"/>
          </a:p>
          <a:p>
            <a:pPr marL="457200" lvl="0" indent="-368300" algn="ctr" rtl="0">
              <a:lnSpc>
                <a:spcPct val="100000"/>
              </a:lnSpc>
              <a:spcBef>
                <a:spcPts val="0"/>
              </a:spcBef>
              <a:spcAft>
                <a:spcPts val="0"/>
              </a:spcAft>
              <a:buClr>
                <a:srgbClr val="000000"/>
              </a:buClr>
              <a:buSzPts val="2800"/>
              <a:buFont typeface="Archivo Narrow"/>
              <a:buNone/>
            </a:pPr>
            <a:r>
              <a:rPr lang="en-US" sz="1600" b="1" i="1"/>
              <a:t> Project Proposal Presentation </a:t>
            </a:r>
            <a:endParaRPr/>
          </a:p>
          <a:p>
            <a:pPr marL="457200" lvl="0" indent="-368300" algn="ctr" rtl="0">
              <a:lnSpc>
                <a:spcPct val="100000"/>
              </a:lnSpc>
              <a:spcBef>
                <a:spcPts val="0"/>
              </a:spcBef>
              <a:spcAft>
                <a:spcPts val="0"/>
              </a:spcAft>
              <a:buClr>
                <a:srgbClr val="000000"/>
              </a:buClr>
              <a:buSzPts val="2800"/>
              <a:buFont typeface="Archivo Narrow"/>
              <a:buNone/>
            </a:pPr>
            <a:r>
              <a:rPr lang="en-US" sz="1400" i="1"/>
              <a:t>by</a:t>
            </a:r>
            <a:endParaRPr sz="1400"/>
          </a:p>
          <a:p>
            <a:pPr marL="457200" lvl="0" indent="-368300" algn="ctr" rtl="0">
              <a:lnSpc>
                <a:spcPct val="100000"/>
              </a:lnSpc>
              <a:spcBef>
                <a:spcPts val="0"/>
              </a:spcBef>
              <a:spcAft>
                <a:spcPts val="0"/>
              </a:spcAft>
              <a:buClr>
                <a:srgbClr val="000000"/>
              </a:buClr>
              <a:buSzPts val="2800"/>
              <a:buNone/>
            </a:pPr>
            <a:r>
              <a:rPr lang="en-US" sz="1600" b="1" err="1"/>
              <a:t>Josaiah</a:t>
            </a:r>
            <a:r>
              <a:rPr lang="en-US" sz="1600" b="1"/>
              <a:t> </a:t>
            </a:r>
            <a:r>
              <a:rPr lang="en-US" sz="1600" b="1" err="1"/>
              <a:t>Murfeal</a:t>
            </a:r>
            <a:r>
              <a:rPr lang="en-US" sz="1600" b="1"/>
              <a:t> Dkhar(2447125) </a:t>
            </a:r>
          </a:p>
          <a:p>
            <a:pPr marL="457200" lvl="0" indent="-368300" algn="ctr" rtl="0">
              <a:lnSpc>
                <a:spcPct val="100000"/>
              </a:lnSpc>
              <a:spcBef>
                <a:spcPts val="0"/>
              </a:spcBef>
              <a:spcAft>
                <a:spcPts val="0"/>
              </a:spcAft>
              <a:buClr>
                <a:srgbClr val="000000"/>
              </a:buClr>
              <a:buSzPts val="2800"/>
              <a:buNone/>
            </a:pPr>
            <a:r>
              <a:rPr lang="en-US" sz="1600" b="1"/>
              <a:t> Pranab Rai(2447137)</a:t>
            </a:r>
            <a:endParaRPr sz="1600"/>
          </a:p>
          <a:p>
            <a:pPr marL="457200" lvl="0" indent="-368300" algn="ctr" rtl="0">
              <a:lnSpc>
                <a:spcPct val="100000"/>
              </a:lnSpc>
              <a:spcBef>
                <a:spcPts val="0"/>
              </a:spcBef>
              <a:spcAft>
                <a:spcPts val="0"/>
              </a:spcAft>
              <a:buClr>
                <a:srgbClr val="000000"/>
              </a:buClr>
              <a:buSzPts val="2800"/>
              <a:buNone/>
            </a:pPr>
            <a:r>
              <a:rPr lang="en-US" sz="1600" b="1"/>
              <a:t>II MCA-A</a:t>
            </a:r>
            <a:endParaRPr sz="1600"/>
          </a:p>
          <a:p>
            <a:pPr marL="457200" lvl="0" indent="-368300" algn="ctr" rtl="0">
              <a:lnSpc>
                <a:spcPct val="100000"/>
              </a:lnSpc>
              <a:spcBef>
                <a:spcPts val="0"/>
              </a:spcBef>
              <a:spcAft>
                <a:spcPts val="0"/>
              </a:spcAft>
              <a:buClr>
                <a:srgbClr val="000000"/>
              </a:buClr>
              <a:buSzPts val="2800"/>
              <a:buFont typeface="Archivo Narrow"/>
              <a:buNone/>
            </a:pPr>
            <a:endParaRPr sz="1600"/>
          </a:p>
          <a:p>
            <a:pPr marL="457200" lvl="0" indent="-368300" algn="ctr" rtl="0">
              <a:lnSpc>
                <a:spcPct val="100000"/>
              </a:lnSpc>
              <a:spcBef>
                <a:spcPts val="0"/>
              </a:spcBef>
              <a:spcAft>
                <a:spcPts val="0"/>
              </a:spcAft>
              <a:buClr>
                <a:srgbClr val="000000"/>
              </a:buClr>
              <a:buSzPts val="2800"/>
              <a:buFont typeface="Archivo Narrow"/>
              <a:buNone/>
            </a:pPr>
            <a:r>
              <a:rPr lang="en-US" sz="1600"/>
              <a:t>Project  Guide </a:t>
            </a:r>
            <a:endParaRPr sz="1600"/>
          </a:p>
          <a:p>
            <a:pPr marL="457200" lvl="0" indent="-368300" algn="ctr" rtl="0">
              <a:lnSpc>
                <a:spcPct val="100000"/>
              </a:lnSpc>
              <a:spcBef>
                <a:spcPts val="0"/>
              </a:spcBef>
              <a:spcAft>
                <a:spcPts val="0"/>
              </a:spcAft>
              <a:buClr>
                <a:srgbClr val="000000"/>
              </a:buClr>
              <a:buSzPts val="2800"/>
              <a:buFont typeface="Archivo Narrow"/>
              <a:buNone/>
            </a:pPr>
            <a:r>
              <a:rPr lang="en-US" sz="1600" b="1"/>
              <a:t>Dr. </a:t>
            </a:r>
            <a:r>
              <a:rPr lang="en-US" sz="1600" b="1" err="1"/>
              <a:t>Tegil</a:t>
            </a:r>
            <a:r>
              <a:rPr lang="en-US" sz="1600" b="1"/>
              <a:t> John </a:t>
            </a:r>
          </a:p>
          <a:p>
            <a:pPr marL="457200" lvl="0" indent="-368300" algn="ctr" rtl="0">
              <a:lnSpc>
                <a:spcPct val="100000"/>
              </a:lnSpc>
              <a:spcBef>
                <a:spcPts val="0"/>
              </a:spcBef>
              <a:spcAft>
                <a:spcPts val="0"/>
              </a:spcAft>
              <a:buClr>
                <a:srgbClr val="000000"/>
              </a:buClr>
              <a:buSzPts val="2800"/>
              <a:buFont typeface="Archivo Narrow"/>
              <a:buNone/>
            </a:pPr>
            <a:endParaRPr sz="1600" b="1"/>
          </a:p>
          <a:p>
            <a:pPr marL="0" lvl="0" indent="0" algn="ctr" rtl="0">
              <a:lnSpc>
                <a:spcPct val="100000"/>
              </a:lnSpc>
              <a:spcBef>
                <a:spcPts val="0"/>
              </a:spcBef>
              <a:spcAft>
                <a:spcPts val="0"/>
              </a:spcAft>
              <a:buSzPts val="1800"/>
              <a:buFont typeface="Archivo Narrow"/>
              <a:buNone/>
            </a:pPr>
            <a:r>
              <a:rPr lang="en-US" sz="1600">
                <a:solidFill>
                  <a:schemeClr val="dk1"/>
                </a:solidFill>
              </a:rPr>
              <a:t>Department of Computer Science</a:t>
            </a:r>
            <a:endParaRPr sz="1600"/>
          </a:p>
          <a:p>
            <a:pPr marL="457200" lvl="0" indent="-368300" algn="ctr" rtl="0">
              <a:lnSpc>
                <a:spcPct val="80000"/>
              </a:lnSpc>
              <a:spcBef>
                <a:spcPts val="0"/>
              </a:spcBef>
              <a:spcAft>
                <a:spcPts val="0"/>
              </a:spcAft>
              <a:buSzPts val="2800"/>
              <a:buFont typeface="Archivo Narrow"/>
              <a:buNone/>
            </a:pPr>
            <a:r>
              <a:rPr lang="en-US" sz="1600">
                <a:solidFill>
                  <a:schemeClr val="dk1"/>
                </a:solidFill>
              </a:rPr>
              <a:t>CHRIST(Deemed to be University), Bengaluru-29</a:t>
            </a:r>
            <a:endParaRPr sz="1600"/>
          </a:p>
          <a:p>
            <a:pPr marL="457200" lvl="0" indent="-368300" algn="ctr" rtl="0">
              <a:lnSpc>
                <a:spcPct val="100000"/>
              </a:lnSpc>
              <a:spcBef>
                <a:spcPts val="0"/>
              </a:spcBef>
              <a:spcAft>
                <a:spcPts val="0"/>
              </a:spcAft>
              <a:buClr>
                <a:srgbClr val="000000"/>
              </a:buClr>
              <a:buSzPts val="2800"/>
              <a:buFont typeface="Archivo Narrow"/>
              <a:buNone/>
            </a:pPr>
            <a:endParaRPr sz="1800"/>
          </a:p>
          <a:p>
            <a:pPr marL="0" lvl="0" indent="0" algn="ctr" rtl="0">
              <a:lnSpc>
                <a:spcPct val="100000"/>
              </a:lnSpc>
              <a:spcBef>
                <a:spcPts val="0"/>
              </a:spcBef>
              <a:spcAft>
                <a:spcPts val="0"/>
              </a:spcAft>
              <a:buSzPts val="2800"/>
              <a:buFont typeface="Archivo Narrow"/>
              <a:buNone/>
            </a:pPr>
            <a:endParaRPr>
              <a:latin typeface="Archivo Narrow"/>
              <a:ea typeface="Archivo Narrow"/>
              <a:cs typeface="Archivo Narrow"/>
              <a:sym typeface="Archivo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82748" y="1268376"/>
            <a:ext cx="2473028" cy="1008496"/>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Font typeface="Archivo Narrow"/>
              <a:buNone/>
            </a:pPr>
            <a:r>
              <a:rPr lang="en-US" sz="2800" b="1"/>
              <a:t>Agenda</a:t>
            </a:r>
            <a:br>
              <a:rPr lang="en-US" sz="2800" b="1"/>
            </a:br>
            <a:r>
              <a:rPr lang="en-US" sz="2800" b="1"/>
              <a:t>  </a:t>
            </a:r>
            <a:endParaRPr sz="2800"/>
          </a:p>
        </p:txBody>
      </p:sp>
      <p:sp>
        <p:nvSpPr>
          <p:cNvPr id="110" name="Google Shape;110;p13"/>
          <p:cNvSpPr txBox="1">
            <a:spLocks noGrp="1"/>
          </p:cNvSpPr>
          <p:nvPr>
            <p:ph type="subTitle" idx="1"/>
          </p:nvPr>
        </p:nvSpPr>
        <p:spPr>
          <a:xfrm>
            <a:off x="395536" y="1700808"/>
            <a:ext cx="7128792" cy="3960812"/>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SzPts val="2000"/>
              <a:buFont typeface="Arial"/>
              <a:buChar char="•"/>
            </a:pPr>
            <a:r>
              <a:rPr lang="en-US" sz="1600"/>
              <a:t>Introduction</a:t>
            </a:r>
          </a:p>
          <a:p>
            <a:pPr marL="342900" lvl="0" indent="-342900" algn="l" rtl="0">
              <a:lnSpc>
                <a:spcPct val="100000"/>
              </a:lnSpc>
              <a:spcBef>
                <a:spcPts val="0"/>
              </a:spcBef>
              <a:spcAft>
                <a:spcPts val="0"/>
              </a:spcAft>
              <a:buSzPts val="2000"/>
              <a:buFont typeface="Arial"/>
              <a:buChar char="•"/>
            </a:pPr>
            <a:r>
              <a:rPr lang="en-US" sz="1600" b="0" i="0">
                <a:effectLst/>
                <a:latin typeface="Times New Roman" panose="02020603050405020304" pitchFamily="18" charset="0"/>
                <a:cs typeface="Times New Roman" panose="02020603050405020304" pitchFamily="18" charset="0"/>
              </a:rPr>
              <a:t>Need analysis</a:t>
            </a:r>
          </a:p>
          <a:p>
            <a:pPr marL="342900" lvl="0" indent="-342900" algn="l" rtl="0">
              <a:lnSpc>
                <a:spcPct val="100000"/>
              </a:lnSpc>
              <a:spcBef>
                <a:spcPts val="0"/>
              </a:spcBef>
              <a:spcAft>
                <a:spcPts val="0"/>
              </a:spcAft>
              <a:buSzPts val="2000"/>
              <a:buFont typeface="Arial"/>
              <a:buChar char="•"/>
            </a:pPr>
            <a:r>
              <a:rPr lang="en-US" sz="1600" b="0" i="0">
                <a:effectLst/>
                <a:latin typeface="Times New Roman" panose="02020603050405020304" pitchFamily="18" charset="0"/>
                <a:cs typeface="Times New Roman" panose="02020603050405020304" pitchFamily="18" charset="0"/>
              </a:rPr>
              <a:t>Social impact</a:t>
            </a:r>
            <a:endParaRPr sz="1600">
              <a:latin typeface="Times New Roman" panose="02020603050405020304" pitchFamily="18" charset="0"/>
              <a:cs typeface="Times New Roman" panose="02020603050405020304" pitchFamily="18" charset="0"/>
            </a:endParaRPr>
          </a:p>
          <a:p>
            <a:pPr marL="342900" lvl="0" indent="-342900" algn="l" rtl="0">
              <a:lnSpc>
                <a:spcPct val="100000"/>
              </a:lnSpc>
              <a:spcBef>
                <a:spcPts val="0"/>
              </a:spcBef>
              <a:spcAft>
                <a:spcPts val="0"/>
              </a:spcAft>
              <a:buSzPts val="2000"/>
              <a:buFont typeface="Arial"/>
              <a:buChar char="•"/>
            </a:pPr>
            <a:r>
              <a:rPr lang="en-US" sz="1600"/>
              <a:t>Alignment with SDG Goals </a:t>
            </a:r>
            <a:endParaRPr sz="1600"/>
          </a:p>
          <a:p>
            <a:pPr marL="342900" lvl="0" indent="-342900" algn="l" rtl="0">
              <a:lnSpc>
                <a:spcPct val="100000"/>
              </a:lnSpc>
              <a:spcBef>
                <a:spcPts val="0"/>
              </a:spcBef>
              <a:spcAft>
                <a:spcPts val="0"/>
              </a:spcAft>
              <a:buSzPts val="2000"/>
              <a:buFont typeface="Arial"/>
              <a:buChar char="•"/>
            </a:pPr>
            <a:r>
              <a:rPr lang="en-US" sz="1600"/>
              <a:t>Existing Systems </a:t>
            </a:r>
          </a:p>
          <a:p>
            <a:pPr marL="342900" lvl="0" indent="-342900" algn="l" rtl="0">
              <a:lnSpc>
                <a:spcPct val="100000"/>
              </a:lnSpc>
              <a:spcBef>
                <a:spcPts val="0"/>
              </a:spcBef>
              <a:spcAft>
                <a:spcPts val="0"/>
              </a:spcAft>
              <a:buSzPts val="2000"/>
              <a:buFont typeface="Arial"/>
              <a:buChar char="•"/>
            </a:pPr>
            <a:r>
              <a:rPr lang="en-US" sz="1600"/>
              <a:t>Proposed System</a:t>
            </a:r>
            <a:endParaRPr sz="1600"/>
          </a:p>
          <a:p>
            <a:pPr marL="342900" lvl="0" indent="-342900" algn="l" rtl="0">
              <a:lnSpc>
                <a:spcPct val="100000"/>
              </a:lnSpc>
              <a:spcBef>
                <a:spcPts val="0"/>
              </a:spcBef>
              <a:spcAft>
                <a:spcPts val="0"/>
              </a:spcAft>
              <a:buSzPts val="2000"/>
              <a:buFont typeface="Arial"/>
              <a:buChar char="•"/>
            </a:pPr>
            <a:r>
              <a:rPr lang="en-US" sz="1600"/>
              <a:t>Feasibility Analysis </a:t>
            </a:r>
          </a:p>
          <a:p>
            <a:pPr marL="342900" lvl="0" indent="-342900" algn="l" rtl="0">
              <a:lnSpc>
                <a:spcPct val="100000"/>
              </a:lnSpc>
              <a:spcBef>
                <a:spcPts val="0"/>
              </a:spcBef>
              <a:spcAft>
                <a:spcPts val="0"/>
              </a:spcAft>
              <a:buSzPts val="2000"/>
              <a:buFont typeface="Arial"/>
              <a:buChar char="•"/>
            </a:pPr>
            <a:r>
              <a:rPr lang="en-US" sz="1600"/>
              <a:t>Benefits of Proposed System</a:t>
            </a:r>
          </a:p>
          <a:p>
            <a:pPr marL="342900" lvl="0" indent="-342900" algn="l" rtl="0">
              <a:lnSpc>
                <a:spcPct val="100000"/>
              </a:lnSpc>
              <a:spcBef>
                <a:spcPts val="0"/>
              </a:spcBef>
              <a:spcAft>
                <a:spcPts val="0"/>
              </a:spcAft>
              <a:buSzPts val="2000"/>
              <a:buFont typeface="Arial"/>
              <a:buChar char="•"/>
            </a:pPr>
            <a:r>
              <a:rPr lang="en-IN" sz="1600" b="0" i="0">
                <a:effectLst/>
                <a:latin typeface="Times New Roman" panose="02020603050405020304" pitchFamily="18" charset="0"/>
                <a:cs typeface="Times New Roman" panose="02020603050405020304" pitchFamily="18" charset="0"/>
              </a:rPr>
              <a:t>Requirement description</a:t>
            </a:r>
            <a:endParaRPr lang="en-US" sz="1600">
              <a:latin typeface="Times New Roman" panose="02020603050405020304" pitchFamily="18" charset="0"/>
              <a:cs typeface="Times New Roman" panose="02020603050405020304" pitchFamily="18" charset="0"/>
            </a:endParaRPr>
          </a:p>
          <a:p>
            <a:pPr marL="342900" lvl="0" indent="-342900" algn="l" rtl="0">
              <a:lnSpc>
                <a:spcPct val="100000"/>
              </a:lnSpc>
              <a:spcBef>
                <a:spcPts val="0"/>
              </a:spcBef>
              <a:spcAft>
                <a:spcPts val="0"/>
              </a:spcAft>
              <a:buSzPts val="2000"/>
              <a:buFont typeface="Arial"/>
              <a:buChar char="•"/>
            </a:pPr>
            <a:r>
              <a:rPr lang="en-IN" sz="1600" b="0" i="0">
                <a:effectLst/>
                <a:latin typeface="Times New Roman" panose="02020603050405020304" pitchFamily="18" charset="0"/>
                <a:cs typeface="Times New Roman" panose="02020603050405020304" pitchFamily="18" charset="0"/>
              </a:rPr>
              <a:t>Analysis modelling</a:t>
            </a:r>
            <a:endParaRPr sz="1600">
              <a:latin typeface="Times New Roman" panose="02020603050405020304" pitchFamily="18" charset="0"/>
              <a:cs typeface="Times New Roman" panose="02020603050405020304" pitchFamily="18" charset="0"/>
            </a:endParaRPr>
          </a:p>
          <a:p>
            <a:pPr marL="342900" lvl="0" indent="-342900" algn="l" rtl="0">
              <a:lnSpc>
                <a:spcPct val="100000"/>
              </a:lnSpc>
              <a:spcBef>
                <a:spcPts val="0"/>
              </a:spcBef>
              <a:spcAft>
                <a:spcPts val="0"/>
              </a:spcAft>
              <a:buSzPts val="2000"/>
              <a:buFont typeface="Arial"/>
              <a:buChar char="•"/>
            </a:pPr>
            <a:r>
              <a:rPr lang="en-US" sz="1600"/>
              <a:t>Plan of Work </a:t>
            </a:r>
          </a:p>
          <a:p>
            <a:pPr marL="342900" indent="-342900" algn="l">
              <a:buSzPts val="2000"/>
              <a:buFont typeface="Arial"/>
              <a:buChar char="•"/>
            </a:pPr>
            <a:r>
              <a:rPr lang="en-US" sz="1600"/>
              <a:t>Anticipated Outcomes</a:t>
            </a:r>
          </a:p>
          <a:p>
            <a:pPr marL="342900" lvl="0" indent="-342900" algn="l" rtl="0">
              <a:lnSpc>
                <a:spcPct val="100000"/>
              </a:lnSpc>
              <a:spcBef>
                <a:spcPts val="0"/>
              </a:spcBef>
              <a:spcAft>
                <a:spcPts val="0"/>
              </a:spcAft>
              <a:buSzPts val="2000"/>
              <a:buFont typeface="Arial"/>
              <a:buChar char="•"/>
            </a:pPr>
            <a:r>
              <a:rPr lang="en-US" sz="1600"/>
              <a:t>References</a:t>
            </a:r>
            <a:endParaRPr sz="1600"/>
          </a:p>
          <a:p>
            <a:pPr marL="342900" lvl="0" indent="-215900" algn="l" rtl="0">
              <a:lnSpc>
                <a:spcPct val="100000"/>
              </a:lnSpc>
              <a:spcBef>
                <a:spcPts val="0"/>
              </a:spcBef>
              <a:spcAft>
                <a:spcPts val="0"/>
              </a:spcAft>
              <a:buSzPts val="2000"/>
              <a:buFont typeface="Arial"/>
              <a:buNone/>
            </a:pPr>
            <a:endParaRPr sz="1600"/>
          </a:p>
          <a:p>
            <a:pPr marL="342900" lvl="0" indent="-215900" algn="l" rtl="0">
              <a:lnSpc>
                <a:spcPct val="100000"/>
              </a:lnSpc>
              <a:spcBef>
                <a:spcPts val="0"/>
              </a:spcBef>
              <a:spcAft>
                <a:spcPts val="0"/>
              </a:spcAft>
              <a:buSzPts val="2000"/>
              <a:buFont typeface="Arial"/>
              <a:buNone/>
            </a:pP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311150" y="593725"/>
            <a:ext cx="8521700" cy="763588"/>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SzPts val="2800"/>
              <a:buNone/>
            </a:pPr>
            <a:r>
              <a:rPr lang="en-US" sz="2800" b="1">
                <a:latin typeface="Times New Roman"/>
                <a:ea typeface="Times New Roman"/>
                <a:cs typeface="Times New Roman"/>
                <a:sym typeface="Times New Roman"/>
              </a:rPr>
              <a:t>Introduction</a:t>
            </a:r>
            <a:endParaRPr sz="2800" b="1"/>
          </a:p>
        </p:txBody>
      </p:sp>
      <p:sp>
        <p:nvSpPr>
          <p:cNvPr id="116" name="Google Shape;116;p14"/>
          <p:cNvSpPr txBox="1">
            <a:spLocks noGrp="1"/>
          </p:cNvSpPr>
          <p:nvPr>
            <p:ph type="body" idx="1"/>
          </p:nvPr>
        </p:nvSpPr>
        <p:spPr>
          <a:xfrm>
            <a:off x="320294" y="1545844"/>
            <a:ext cx="8521700" cy="4554538"/>
          </a:xfrm>
          <a:prstGeom prst="rect">
            <a:avLst/>
          </a:prstGeom>
          <a:noFill/>
          <a:ln>
            <a:noFill/>
          </a:ln>
        </p:spPr>
        <p:txBody>
          <a:bodyPr spcFirstLastPara="1" wrap="square" lIns="91425" tIns="91425" rIns="91425" bIns="91425" anchor="t" anchorCtr="0">
            <a:noAutofit/>
          </a:bodyPr>
          <a:lstStyle/>
          <a:p>
            <a:pPr marL="88900" indent="0">
              <a:buNone/>
            </a:pPr>
            <a:r>
              <a:rPr lang="en-US" sz="1600"/>
              <a:t>The project aims to develop an advanced Intrusion Detection System (IDS) that uses machine learning and heuristic algorithms to provide real-time, adaptive detection of cyber threats, including both known and unknown intrusions. With a focus on detecting complex attacks like Advanced Persistent Threats (APTs) and AI-driven malware, this IDS will address limitations of existing systems by enhancing accuracy, scalability, and integration capabilities.</a:t>
            </a:r>
          </a:p>
          <a:p>
            <a:pPr marL="88900" indent="0">
              <a:buNone/>
            </a:pPr>
            <a:endParaRPr lang="en-US" sz="1600"/>
          </a:p>
          <a:p>
            <a:pPr marL="88900" indent="0">
              <a:buNone/>
            </a:pPr>
            <a:r>
              <a:rPr lang="en-US" sz="1600" b="1"/>
              <a:t>Requirement Analysis:</a:t>
            </a:r>
            <a:br>
              <a:rPr lang="en-US" sz="1600"/>
            </a:br>
            <a:r>
              <a:rPr lang="en-US" sz="1600"/>
              <a:t>The need for an adaptive IDS stems from increasing cyber threats that exploit traditional systems' limitations. Essential requirements include robust data processing, machine learning integration, compatibility with cloud and IoT networks, and a user-friendly interface for security administrators. High-performance hardware and open-source software tools like Snort will support real-time processing and detection.</a:t>
            </a:r>
          </a:p>
          <a:p>
            <a:pPr marL="88900" indent="0">
              <a:buNone/>
            </a:pPr>
            <a:r>
              <a:rPr lang="en-US" sz="1600" b="1"/>
              <a:t>Viability, Novelty, and Relevance:</a:t>
            </a:r>
            <a:br>
              <a:rPr lang="en-US" sz="1600"/>
            </a:br>
            <a:r>
              <a:rPr lang="en-US" sz="1600"/>
              <a:t>The project is viable due to advancements in machine learning algorithms, which enable systems to detect previously unseen attack patterns. This IDS stands out by integrating deep learning, hybrid detection methodologies, and user behavior analytics, making it both innovative and practical. In alignment with SDG Goal 9 (Industry, Innovation, and Infrastructure) and Goal 16 (Peace, Justice, and Strong Institutions), this project aims to strengthen digital infrastructure resilience and security.</a:t>
            </a:r>
          </a:p>
          <a:p>
            <a:pPr marL="88900" indent="0">
              <a:buNone/>
            </a:pPr>
            <a:endParaRPr lang="en-US" sz="1600"/>
          </a:p>
          <a:p>
            <a:pPr marL="88900" lvl="0" indent="0" algn="just" rtl="0">
              <a:lnSpc>
                <a:spcPct val="150000"/>
              </a:lnSpc>
              <a:spcBef>
                <a:spcPts val="0"/>
              </a:spcBef>
              <a:spcAft>
                <a:spcPts val="0"/>
              </a:spcAft>
              <a:buSzPts val="2200"/>
              <a:buFont typeface="Arial"/>
              <a:buNone/>
            </a:pPr>
            <a:endParaRPr sz="1600"/>
          </a:p>
        </p:txBody>
      </p:sp>
      <p:sp>
        <p:nvSpPr>
          <p:cNvPr id="117" name="Google Shape;117;p14"/>
          <p:cNvSpPr txBox="1">
            <a:spLocks noGrp="1"/>
          </p:cNvSpPr>
          <p:nvPr>
            <p:ph type="sldNum" idx="12"/>
          </p:nvPr>
        </p:nvSpPr>
        <p:spPr>
          <a:xfrm>
            <a:off x="8472488" y="6218238"/>
            <a:ext cx="549275" cy="523875"/>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600"/>
              <a:buNone/>
            </a:pPr>
            <a:fld id="{00000000-1234-1234-1234-123412341234}" type="slidenum">
              <a:rPr lang="en-US" sz="1600">
                <a:solidFill>
                  <a:schemeClr val="lt1"/>
                </a:solidFill>
                <a:latin typeface="Times New Roman"/>
                <a:ea typeface="Times New Roman"/>
                <a:cs typeface="Times New Roman"/>
                <a:sym typeface="Times New Roman"/>
              </a:rPr>
              <a:t>3</a:t>
            </a:fld>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A6D3-892A-0732-F2BB-5EA594FFBC17}"/>
              </a:ext>
            </a:extLst>
          </p:cNvPr>
          <p:cNvSpPr>
            <a:spLocks noGrp="1"/>
          </p:cNvSpPr>
          <p:nvPr>
            <p:ph type="title"/>
          </p:nvPr>
        </p:nvSpPr>
        <p:spPr/>
        <p:txBody>
          <a:bodyPr/>
          <a:lstStyle/>
          <a:p>
            <a:r>
              <a:rPr lang="en-IN" sz="2800" b="1"/>
              <a:t>Need Analysis</a:t>
            </a:r>
          </a:p>
        </p:txBody>
      </p:sp>
      <p:sp>
        <p:nvSpPr>
          <p:cNvPr id="3" name="Text Placeholder 2">
            <a:extLst>
              <a:ext uri="{FF2B5EF4-FFF2-40B4-BE49-F238E27FC236}">
                <a16:creationId xmlns:a16="http://schemas.microsoft.com/office/drawing/2014/main" id="{39502B8C-06A4-9BFD-93A6-03046D900978}"/>
              </a:ext>
            </a:extLst>
          </p:cNvPr>
          <p:cNvSpPr>
            <a:spLocks noGrp="1"/>
          </p:cNvSpPr>
          <p:nvPr>
            <p:ph type="body" idx="1"/>
          </p:nvPr>
        </p:nvSpPr>
        <p:spPr/>
        <p:txBody>
          <a:bodyPr/>
          <a:lstStyle/>
          <a:p>
            <a:pPr marL="88900" indent="0">
              <a:buNone/>
            </a:pPr>
            <a:r>
              <a:rPr lang="en-US" sz="1800" b="1"/>
              <a:t>1. Limitations of Traditional IDS:</a:t>
            </a:r>
          </a:p>
          <a:p>
            <a:pPr>
              <a:buFont typeface="Arial" panose="020B0604020202020204" pitchFamily="34" charset="0"/>
              <a:buChar char="•"/>
            </a:pPr>
            <a:r>
              <a:rPr lang="en-US" sz="1600"/>
              <a:t>Traditional IDS struggles with sophisticated cyberattacks, high traffic volumes, and evolving threats.</a:t>
            </a:r>
          </a:p>
          <a:p>
            <a:pPr>
              <a:buFont typeface="Arial" panose="020B0604020202020204" pitchFamily="34" charset="0"/>
              <a:buChar char="•"/>
            </a:pPr>
            <a:r>
              <a:rPr lang="en-US" sz="1600"/>
              <a:t>Signature-based systems can only detect known threats, while anomaly-based systems often generate high false positives.</a:t>
            </a:r>
          </a:p>
          <a:p>
            <a:endParaRPr lang="en-US" sz="1800"/>
          </a:p>
          <a:p>
            <a:pPr marL="88900" indent="0">
              <a:buNone/>
            </a:pPr>
            <a:r>
              <a:rPr lang="en-US" sz="1800" b="1"/>
              <a:t>2. Real-Time Threat Detection and Response:</a:t>
            </a:r>
          </a:p>
          <a:p>
            <a:pPr>
              <a:buFont typeface="Arial" panose="020B0604020202020204" pitchFamily="34" charset="0"/>
              <a:buChar char="•"/>
            </a:pPr>
            <a:r>
              <a:rPr lang="en-US" sz="1600"/>
              <a:t>Growing network traffic and attack speeds necessitate real-time monitoring and response.</a:t>
            </a:r>
          </a:p>
          <a:p>
            <a:pPr>
              <a:buFont typeface="Arial" panose="020B0604020202020204" pitchFamily="34" charset="0"/>
              <a:buChar char="•"/>
            </a:pPr>
            <a:r>
              <a:rPr lang="en-US" sz="1600"/>
              <a:t>Traditional IDS may not meet the real-time demands of modern network environments.</a:t>
            </a:r>
          </a:p>
          <a:p>
            <a:pPr marL="88900" indent="0">
              <a:buNone/>
            </a:pPr>
            <a:endParaRPr lang="en-US" sz="1800"/>
          </a:p>
          <a:p>
            <a:pPr marL="88900" indent="0">
              <a:buNone/>
            </a:pPr>
            <a:r>
              <a:rPr lang="en-US" sz="1800"/>
              <a:t> </a:t>
            </a:r>
            <a:r>
              <a:rPr lang="en-US" sz="1800" b="1"/>
              <a:t>3. Adaptability to Evolving Cyber Threats:</a:t>
            </a:r>
          </a:p>
          <a:p>
            <a:pPr>
              <a:buFont typeface="Arial" panose="020B0604020202020204" pitchFamily="34" charset="0"/>
              <a:buChar char="•"/>
            </a:pPr>
            <a:r>
              <a:rPr lang="en-US" sz="1600"/>
              <a:t>Attackers continually develop new methods, requiring an IDS that adapts and learns from emerging threats.</a:t>
            </a:r>
          </a:p>
          <a:p>
            <a:pPr>
              <a:buFont typeface="Arial" panose="020B0604020202020204" pitchFamily="34" charset="0"/>
              <a:buChar char="•"/>
            </a:pPr>
            <a:r>
              <a:rPr lang="en-US" sz="1600"/>
              <a:t>Machine learning and external threat intelligence feeds are key to maintaining up-to-date detection capabilities.</a:t>
            </a:r>
          </a:p>
          <a:p>
            <a:pPr marL="88900" indent="0">
              <a:buNone/>
            </a:pPr>
            <a:endParaRPr lang="en-IN" sz="1800"/>
          </a:p>
          <a:p>
            <a:pPr marL="88900" indent="0">
              <a:buNone/>
            </a:pPr>
            <a:endParaRPr lang="en-US" sz="1800"/>
          </a:p>
          <a:p>
            <a:pPr marL="88900" indent="0">
              <a:buNone/>
            </a:pPr>
            <a:endParaRPr lang="en-US" sz="1800"/>
          </a:p>
          <a:p>
            <a:pPr marL="88900" indent="0">
              <a:buNone/>
            </a:pPr>
            <a:endParaRPr lang="en-IN"/>
          </a:p>
        </p:txBody>
      </p:sp>
      <p:sp>
        <p:nvSpPr>
          <p:cNvPr id="4" name="Slide Number Placeholder 3">
            <a:extLst>
              <a:ext uri="{FF2B5EF4-FFF2-40B4-BE49-F238E27FC236}">
                <a16:creationId xmlns:a16="http://schemas.microsoft.com/office/drawing/2014/main" id="{50C4E568-6208-8E44-9743-1A5284B6E4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1256246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29E9-1281-DD06-1B04-9A3FFDBCD9A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B8BBA0F-0769-6F17-F682-BFAB7D0AD81F}"/>
              </a:ext>
            </a:extLst>
          </p:cNvPr>
          <p:cNvSpPr>
            <a:spLocks noGrp="1"/>
          </p:cNvSpPr>
          <p:nvPr>
            <p:ph type="body" idx="1"/>
          </p:nvPr>
        </p:nvSpPr>
        <p:spPr/>
        <p:txBody>
          <a:bodyPr/>
          <a:lstStyle/>
          <a:p>
            <a:pPr marL="88900" indent="0">
              <a:buNone/>
            </a:pPr>
            <a:r>
              <a:rPr lang="en-US" sz="1800" b="1"/>
              <a:t>4. Scalability and Resource Efficiency:</a:t>
            </a:r>
          </a:p>
          <a:p>
            <a:pPr>
              <a:buFont typeface="Arial" panose="020B0604020202020204" pitchFamily="34" charset="0"/>
              <a:buChar char="•"/>
            </a:pPr>
            <a:r>
              <a:rPr lang="en-US" sz="1600"/>
              <a:t>The IDS must scale with growing network sizes while managing the resource demands of advanced detection techniques.</a:t>
            </a:r>
          </a:p>
          <a:p>
            <a:pPr>
              <a:buFont typeface="Arial" panose="020B0604020202020204" pitchFamily="34" charset="0"/>
              <a:buChar char="•"/>
            </a:pPr>
            <a:r>
              <a:rPr lang="en-US" sz="1600"/>
              <a:t>Balancing detection capabilities with computational efficiency is essential for real-time performance.</a:t>
            </a:r>
          </a:p>
          <a:p>
            <a:endParaRPr lang="en-US" sz="1600"/>
          </a:p>
          <a:p>
            <a:pPr marL="88900" indent="0">
              <a:buNone/>
            </a:pPr>
            <a:r>
              <a:rPr lang="en-US" sz="1800" b="1"/>
              <a:t>5. Integration with Existing Security Infrastructure:</a:t>
            </a:r>
          </a:p>
          <a:p>
            <a:pPr>
              <a:buFont typeface="Arial" panose="020B0604020202020204" pitchFamily="34" charset="0"/>
              <a:buChar char="•"/>
            </a:pPr>
            <a:r>
              <a:rPr lang="en-US" sz="1600"/>
              <a:t>Seamless integration with firewalls, antivirus software, and other security measures is necessary for a layered security approach.</a:t>
            </a:r>
          </a:p>
          <a:p>
            <a:pPr>
              <a:buFont typeface="Arial" panose="020B0604020202020204" pitchFamily="34" charset="0"/>
              <a:buChar char="•"/>
            </a:pPr>
            <a:r>
              <a:rPr lang="en-US" sz="1600"/>
              <a:t>Coordination between security layers enhances overall protection.</a:t>
            </a:r>
          </a:p>
          <a:p>
            <a:endParaRPr lang="en-US" sz="1600"/>
          </a:p>
          <a:p>
            <a:pPr marL="88900" indent="0">
              <a:buNone/>
            </a:pPr>
            <a:r>
              <a:rPr lang="en-US" sz="1800" b="1"/>
              <a:t>7. User-Friendly Interface and Reporting:</a:t>
            </a:r>
          </a:p>
          <a:p>
            <a:pPr>
              <a:buFont typeface="Arial" panose="020B0604020202020204" pitchFamily="34" charset="0"/>
              <a:buChar char="•"/>
            </a:pPr>
            <a:r>
              <a:rPr lang="en-US" sz="1600"/>
              <a:t>The IDS should provide a clear and intuitive interface for administrators to manage security incidents.</a:t>
            </a:r>
          </a:p>
          <a:p>
            <a:pPr>
              <a:buFont typeface="Arial" panose="020B0604020202020204" pitchFamily="34" charset="0"/>
              <a:buChar char="•"/>
            </a:pPr>
            <a:r>
              <a:rPr lang="en-US" sz="1600"/>
              <a:t>Comprehensive reporting tools are essential for incident analysis, trend tracking, and regulatory compliance.</a:t>
            </a:r>
          </a:p>
          <a:p>
            <a:pPr marL="88900" indent="0">
              <a:buNone/>
            </a:pPr>
            <a:endParaRPr lang="en-IN" sz="1800"/>
          </a:p>
        </p:txBody>
      </p:sp>
      <p:sp>
        <p:nvSpPr>
          <p:cNvPr id="4" name="Slide Number Placeholder 3">
            <a:extLst>
              <a:ext uri="{FF2B5EF4-FFF2-40B4-BE49-F238E27FC236}">
                <a16:creationId xmlns:a16="http://schemas.microsoft.com/office/drawing/2014/main" id="{C585459E-8186-4CFF-7264-1DD9AC3EA1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362271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2FFAB-EB15-90AF-2D09-35499F68E5B9}"/>
              </a:ext>
            </a:extLst>
          </p:cNvPr>
          <p:cNvSpPr>
            <a:spLocks noGrp="1"/>
          </p:cNvSpPr>
          <p:nvPr>
            <p:ph type="title"/>
          </p:nvPr>
        </p:nvSpPr>
        <p:spPr/>
        <p:txBody>
          <a:bodyPr/>
          <a:lstStyle/>
          <a:p>
            <a:r>
              <a:rPr lang="en-IN" sz="2800" b="1"/>
              <a:t>Social Impact</a:t>
            </a:r>
          </a:p>
        </p:txBody>
      </p:sp>
      <p:sp>
        <p:nvSpPr>
          <p:cNvPr id="3" name="Text Placeholder 2">
            <a:extLst>
              <a:ext uri="{FF2B5EF4-FFF2-40B4-BE49-F238E27FC236}">
                <a16:creationId xmlns:a16="http://schemas.microsoft.com/office/drawing/2014/main" id="{339F94FD-813A-A028-76B4-3A93C486E4BE}"/>
              </a:ext>
            </a:extLst>
          </p:cNvPr>
          <p:cNvSpPr>
            <a:spLocks noGrp="1"/>
          </p:cNvSpPr>
          <p:nvPr>
            <p:ph type="body" idx="1"/>
          </p:nvPr>
        </p:nvSpPr>
        <p:spPr/>
        <p:txBody>
          <a:bodyPr/>
          <a:lstStyle/>
          <a:p>
            <a:pPr marL="88900" indent="0">
              <a:buNone/>
            </a:pPr>
            <a:r>
              <a:rPr lang="en-US" sz="1600" b="1"/>
              <a:t>1. Increased Network Security and Data Protection:</a:t>
            </a:r>
          </a:p>
          <a:p>
            <a:pPr>
              <a:buFont typeface="Arial" panose="020B0604020202020204" pitchFamily="34" charset="0"/>
              <a:buChar char="•"/>
            </a:pPr>
            <a:r>
              <a:rPr lang="en-US" sz="1600"/>
              <a:t>Enhances network security by detecting and responding to threats in real-time.</a:t>
            </a:r>
          </a:p>
          <a:p>
            <a:pPr>
              <a:buFont typeface="Arial" panose="020B0604020202020204" pitchFamily="34" charset="0"/>
              <a:buChar char="•"/>
            </a:pPr>
            <a:r>
              <a:rPr lang="en-US" sz="1600"/>
              <a:t>Protects sensitive personal and financial data, reducing risks of breaches and financial losses.</a:t>
            </a:r>
          </a:p>
          <a:p>
            <a:pPr>
              <a:buFont typeface="Arial" panose="020B0604020202020204" pitchFamily="34" charset="0"/>
              <a:buChar char="•"/>
            </a:pPr>
            <a:r>
              <a:rPr lang="en-US" sz="1600"/>
              <a:t>Integration with existing security measures strengthens overall cybersecurity.</a:t>
            </a:r>
          </a:p>
          <a:p>
            <a:pPr marL="88900" indent="0">
              <a:buNone/>
            </a:pPr>
            <a:endParaRPr lang="en-US" sz="1600"/>
          </a:p>
          <a:p>
            <a:pPr marL="88900" indent="0">
              <a:buNone/>
            </a:pPr>
            <a:r>
              <a:rPr lang="en-US" sz="1800" b="1"/>
              <a:t>2. Improved Incident Response and Reduced Damage:</a:t>
            </a:r>
          </a:p>
          <a:p>
            <a:pPr>
              <a:buFont typeface="Arial" panose="020B0604020202020204" pitchFamily="34" charset="0"/>
              <a:buChar char="•"/>
            </a:pPr>
            <a:r>
              <a:rPr lang="en-US" sz="1600"/>
              <a:t>Real-time threat detection enables quicker responses to mitigate damage and prevent attack spread.</a:t>
            </a:r>
          </a:p>
          <a:p>
            <a:pPr>
              <a:buFont typeface="Arial" panose="020B0604020202020204" pitchFamily="34" charset="0"/>
              <a:buChar char="•"/>
            </a:pPr>
            <a:r>
              <a:rPr lang="en-US" sz="1600"/>
              <a:t>Combines signature-based and anomaly-based detection for more effective threat management.</a:t>
            </a:r>
          </a:p>
          <a:p>
            <a:pPr marL="88900" indent="0">
              <a:buNone/>
            </a:pPr>
            <a:endParaRPr lang="en-US" sz="1800" b="1"/>
          </a:p>
          <a:p>
            <a:pPr marL="88900" indent="0">
              <a:buNone/>
            </a:pPr>
            <a:r>
              <a:rPr lang="en-US" sz="1800" b="1"/>
              <a:t>3. Enhanced User Trust and Confidence:</a:t>
            </a:r>
          </a:p>
          <a:p>
            <a:pPr>
              <a:buFont typeface="Arial" panose="020B0604020202020204" pitchFamily="34" charset="0"/>
              <a:buChar char="•"/>
            </a:pPr>
            <a:r>
              <a:rPr lang="en-US" sz="1600"/>
              <a:t>A robust IDS boosts user trust in digital systems and online platforms.</a:t>
            </a:r>
          </a:p>
          <a:p>
            <a:pPr>
              <a:buFont typeface="Arial" panose="020B0604020202020204" pitchFamily="34" charset="0"/>
              <a:buChar char="•"/>
            </a:pPr>
            <a:r>
              <a:rPr lang="en-US" sz="1600"/>
              <a:t>Promotes confidence by safeguarding user data and preventing attacks.</a:t>
            </a:r>
          </a:p>
          <a:p>
            <a:pPr>
              <a:buFont typeface="Arial" panose="020B0604020202020204" pitchFamily="34" charset="0"/>
              <a:buChar char="•"/>
            </a:pPr>
            <a:r>
              <a:rPr lang="en-US" sz="1600"/>
              <a:t>User behavior analytics enhance detection of insider threats, further building trust.</a:t>
            </a:r>
          </a:p>
          <a:p>
            <a:pPr marL="88900" indent="0">
              <a:buNone/>
            </a:pPr>
            <a:endParaRPr lang="en-IN" sz="1600"/>
          </a:p>
        </p:txBody>
      </p:sp>
      <p:sp>
        <p:nvSpPr>
          <p:cNvPr id="4" name="Slide Number Placeholder 3">
            <a:extLst>
              <a:ext uri="{FF2B5EF4-FFF2-40B4-BE49-F238E27FC236}">
                <a16:creationId xmlns:a16="http://schemas.microsoft.com/office/drawing/2014/main" id="{1D580C4D-FF4D-C63D-D5EA-8AECB17918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540778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172D-89D1-6057-E979-B170045E650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A5860BD-808F-3860-D5FA-611BD1D0B031}"/>
              </a:ext>
            </a:extLst>
          </p:cNvPr>
          <p:cNvSpPr>
            <a:spLocks noGrp="1"/>
          </p:cNvSpPr>
          <p:nvPr>
            <p:ph type="body" idx="1"/>
          </p:nvPr>
        </p:nvSpPr>
        <p:spPr/>
        <p:txBody>
          <a:bodyPr/>
          <a:lstStyle/>
          <a:p>
            <a:pPr marL="88900" indent="0">
              <a:buNone/>
            </a:pPr>
            <a:endParaRPr lang="en-US" sz="1800"/>
          </a:p>
          <a:p>
            <a:pPr marL="88900" indent="0">
              <a:buNone/>
            </a:pPr>
            <a:r>
              <a:rPr lang="en-US" sz="1800" b="1"/>
              <a:t>4. Challenges and Potential Negative Impacts:</a:t>
            </a:r>
          </a:p>
          <a:p>
            <a:pPr>
              <a:buFont typeface="Arial" panose="020B0604020202020204" pitchFamily="34" charset="0"/>
              <a:buChar char="•"/>
            </a:pPr>
            <a:r>
              <a:rPr lang="en-US" sz="1600"/>
              <a:t>False positives and negatives may cause unnecessary alerts or missed threats, affecting user experience.</a:t>
            </a:r>
          </a:p>
          <a:p>
            <a:pPr>
              <a:buFont typeface="Arial" panose="020B0604020202020204" pitchFamily="34" charset="0"/>
              <a:buChar char="•"/>
            </a:pPr>
            <a:r>
              <a:rPr lang="en-US" sz="1600"/>
              <a:t>Data bias in machine learning models could impact the system’s fairness and accuracy.</a:t>
            </a:r>
          </a:p>
          <a:p>
            <a:pPr>
              <a:buFont typeface="Arial" panose="020B0604020202020204" pitchFamily="34" charset="0"/>
              <a:buChar char="•"/>
            </a:pPr>
            <a:r>
              <a:rPr lang="en-US" sz="1600"/>
              <a:t>Privacy concerns may arise due to monitoring capabilities if not responsibly managed.</a:t>
            </a:r>
          </a:p>
          <a:p>
            <a:pPr marL="88900" indent="0">
              <a:buNone/>
            </a:pPr>
            <a:endParaRPr lang="en-IN"/>
          </a:p>
        </p:txBody>
      </p:sp>
      <p:sp>
        <p:nvSpPr>
          <p:cNvPr id="4" name="Slide Number Placeholder 3">
            <a:extLst>
              <a:ext uri="{FF2B5EF4-FFF2-40B4-BE49-F238E27FC236}">
                <a16:creationId xmlns:a16="http://schemas.microsoft.com/office/drawing/2014/main" id="{206A5A82-B113-EEA1-8600-538BECBB7C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1665966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86DB-8AA2-BB47-E6AD-648D43A0CBF7}"/>
              </a:ext>
            </a:extLst>
          </p:cNvPr>
          <p:cNvSpPr>
            <a:spLocks noGrp="1"/>
          </p:cNvSpPr>
          <p:nvPr>
            <p:ph type="title"/>
          </p:nvPr>
        </p:nvSpPr>
        <p:spPr/>
        <p:txBody>
          <a:bodyPr/>
          <a:lstStyle/>
          <a:p>
            <a:r>
              <a:rPr lang="en-US" sz="2800" b="1"/>
              <a:t>Alignment with SDG Goals</a:t>
            </a:r>
            <a:endParaRPr lang="en-IN" sz="2800" b="1"/>
          </a:p>
        </p:txBody>
      </p:sp>
      <p:sp>
        <p:nvSpPr>
          <p:cNvPr id="4" name="Slide Number Placeholder 3">
            <a:extLst>
              <a:ext uri="{FF2B5EF4-FFF2-40B4-BE49-F238E27FC236}">
                <a16:creationId xmlns:a16="http://schemas.microsoft.com/office/drawing/2014/main" id="{C0792871-D3CF-322D-C499-B5D2D73BFB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Rectangle 1">
            <a:extLst>
              <a:ext uri="{FF2B5EF4-FFF2-40B4-BE49-F238E27FC236}">
                <a16:creationId xmlns:a16="http://schemas.microsoft.com/office/drawing/2014/main" id="{3D7FFD08-6FFD-3D9E-ACD3-19220A21FECD}"/>
              </a:ext>
            </a:extLst>
          </p:cNvPr>
          <p:cNvSpPr>
            <a:spLocks noGrp="1" noChangeArrowheads="1"/>
          </p:cNvSpPr>
          <p:nvPr>
            <p:ph type="body" idx="1"/>
          </p:nvPr>
        </p:nvSpPr>
        <p:spPr bwMode="auto">
          <a:xfrm>
            <a:off x="429768" y="1572311"/>
            <a:ext cx="4846320"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SDG 9: Industry, Innovation, and Infrastructure</a:t>
            </a:r>
            <a:b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By developing a sophisticated IDS, this project supports resilient IT infrastructure,  fostering innovation in cybersecurity solutions that protect critical infrastructure and Industries from digital threats.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62B2F92-4A97-D894-1E98-8AF0FF71AACF}"/>
              </a:ext>
            </a:extLst>
          </p:cNvPr>
          <p:cNvPicPr>
            <a:picLocks noChangeAspect="1"/>
          </p:cNvPicPr>
          <p:nvPr/>
        </p:nvPicPr>
        <p:blipFill>
          <a:blip r:embed="rId2"/>
          <a:stretch>
            <a:fillRect/>
          </a:stretch>
        </p:blipFill>
        <p:spPr>
          <a:xfrm>
            <a:off x="6053518" y="1594992"/>
            <a:ext cx="2124075" cy="1824483"/>
          </a:xfrm>
          <a:prstGeom prst="rect">
            <a:avLst/>
          </a:prstGeom>
        </p:spPr>
      </p:pic>
      <p:sp>
        <p:nvSpPr>
          <p:cNvPr id="7" name="TextBox 6">
            <a:extLst>
              <a:ext uri="{FF2B5EF4-FFF2-40B4-BE49-F238E27FC236}">
                <a16:creationId xmlns:a16="http://schemas.microsoft.com/office/drawing/2014/main" id="{6BF20D5E-A0C9-1186-2818-482F41775881}"/>
              </a:ext>
            </a:extLst>
          </p:cNvPr>
          <p:cNvSpPr txBox="1"/>
          <p:nvPr/>
        </p:nvSpPr>
        <p:spPr>
          <a:xfrm>
            <a:off x="3462655" y="4014216"/>
            <a:ext cx="4675505" cy="163121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SDG 16: Peace, Justice, and Strong Institutions</a:t>
            </a:r>
            <a:b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IDS enhances institutional security, helping organizations safeguard data integrity and protect against attacks, thus contributing to a stable and secure digital ecosystem.</a:t>
            </a:r>
          </a:p>
        </p:txBody>
      </p:sp>
      <p:pic>
        <p:nvPicPr>
          <p:cNvPr id="9" name="Picture 8">
            <a:extLst>
              <a:ext uri="{FF2B5EF4-FFF2-40B4-BE49-F238E27FC236}">
                <a16:creationId xmlns:a16="http://schemas.microsoft.com/office/drawing/2014/main" id="{418CAF9F-0ECC-C6B7-BE98-18375687A7E7}"/>
              </a:ext>
            </a:extLst>
          </p:cNvPr>
          <p:cNvPicPr>
            <a:picLocks noChangeAspect="1"/>
          </p:cNvPicPr>
          <p:nvPr/>
        </p:nvPicPr>
        <p:blipFill>
          <a:blip r:embed="rId3"/>
          <a:stretch>
            <a:fillRect/>
          </a:stretch>
        </p:blipFill>
        <p:spPr>
          <a:xfrm>
            <a:off x="1005840" y="3744783"/>
            <a:ext cx="2057400" cy="1838325"/>
          </a:xfrm>
          <a:prstGeom prst="rect">
            <a:avLst/>
          </a:prstGeom>
        </p:spPr>
      </p:pic>
    </p:spTree>
    <p:extLst>
      <p:ext uri="{BB962C8B-B14F-4D97-AF65-F5344CB8AC3E}">
        <p14:creationId xmlns:p14="http://schemas.microsoft.com/office/powerpoint/2010/main" val="3087168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F428-809B-2882-D567-DBDC4418431B}"/>
              </a:ext>
            </a:extLst>
          </p:cNvPr>
          <p:cNvSpPr>
            <a:spLocks noGrp="1"/>
          </p:cNvSpPr>
          <p:nvPr>
            <p:ph type="title"/>
          </p:nvPr>
        </p:nvSpPr>
        <p:spPr/>
        <p:txBody>
          <a:bodyPr/>
          <a:lstStyle/>
          <a:p>
            <a:r>
              <a:rPr lang="en-IN" sz="2800" b="1"/>
              <a:t>Existing Systems</a:t>
            </a:r>
          </a:p>
        </p:txBody>
      </p:sp>
      <p:sp>
        <p:nvSpPr>
          <p:cNvPr id="3" name="Text Placeholder 2">
            <a:extLst>
              <a:ext uri="{FF2B5EF4-FFF2-40B4-BE49-F238E27FC236}">
                <a16:creationId xmlns:a16="http://schemas.microsoft.com/office/drawing/2014/main" id="{59082CCF-B0C8-EDDC-16C5-35938AB9839B}"/>
              </a:ext>
            </a:extLst>
          </p:cNvPr>
          <p:cNvSpPr>
            <a:spLocks noGrp="1"/>
          </p:cNvSpPr>
          <p:nvPr>
            <p:ph type="body" idx="1"/>
          </p:nvPr>
        </p:nvSpPr>
        <p:spPr/>
        <p:txBody>
          <a:bodyPr/>
          <a:lstStyle/>
          <a:p>
            <a:pPr marL="88900" indent="0">
              <a:buNone/>
            </a:pPr>
            <a:r>
              <a:rPr lang="en-US" sz="1800" b="1">
                <a:latin typeface="Times New Roman" panose="02020603050405020304" pitchFamily="18" charset="0"/>
                <a:cs typeface="Times New Roman" panose="02020603050405020304" pitchFamily="18" charset="0"/>
              </a:rPr>
              <a:t>Snort</a:t>
            </a:r>
          </a:p>
          <a:p>
            <a:pPr marL="88900" indent="0">
              <a:buNone/>
            </a:pPr>
            <a:endParaRPr lang="en-US" sz="1800">
              <a:latin typeface="Times New Roman" panose="02020603050405020304" pitchFamily="18" charset="0"/>
              <a:cs typeface="Times New Roman" panose="02020603050405020304" pitchFamily="18" charset="0"/>
            </a:endParaRPr>
          </a:p>
          <a:p>
            <a:pPr marL="88900" indent="0">
              <a:buNone/>
            </a:pPr>
            <a:r>
              <a:rPr lang="en-US" sz="1600">
                <a:latin typeface="Times New Roman" panose="02020603050405020304" pitchFamily="18" charset="0"/>
                <a:cs typeface="Times New Roman" panose="02020603050405020304" pitchFamily="18" charset="0"/>
              </a:rPr>
              <a:t>Snort is one of the most widely used open-source, signature-based IDS solutions. It monitors network traffic in real-time and uses predefined attack signatures to detect known threats.</a:t>
            </a:r>
          </a:p>
          <a:p>
            <a:pPr marL="88900" indent="0">
              <a:buNone/>
            </a:pPr>
            <a:endParaRPr lang="en-US" sz="1800" b="1">
              <a:latin typeface="Times New Roman" panose="02020603050405020304" pitchFamily="18" charset="0"/>
              <a:cs typeface="Times New Roman" panose="02020603050405020304" pitchFamily="18" charset="0"/>
            </a:endParaRPr>
          </a:p>
          <a:p>
            <a:pPr marL="88900" indent="0">
              <a:buNone/>
            </a:pPr>
            <a:r>
              <a:rPr lang="en-US" sz="1800" b="1">
                <a:latin typeface="Times New Roman" panose="02020603050405020304" pitchFamily="18" charset="0"/>
                <a:cs typeface="Times New Roman" panose="02020603050405020304" pitchFamily="18" charset="0"/>
              </a:rPr>
              <a:t>Limitations</a:t>
            </a:r>
            <a:r>
              <a:rPr lang="en-US" sz="180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Signature-Based Only</a:t>
            </a:r>
            <a:r>
              <a:rPr lang="en-US" sz="1600">
                <a:latin typeface="Times New Roman" panose="02020603050405020304" pitchFamily="18" charset="0"/>
                <a:cs typeface="Times New Roman" panose="02020603050405020304" pitchFamily="18" charset="0"/>
              </a:rPr>
              <a:t>: Snort can only detect attacks that match its existing database of signatures, meaning it struggles to identify unknown or zero-day threats.</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High False Negatives</a:t>
            </a:r>
            <a:r>
              <a:rPr lang="en-US" sz="1600">
                <a:latin typeface="Times New Roman" panose="02020603050405020304" pitchFamily="18" charset="0"/>
                <a:cs typeface="Times New Roman" panose="02020603050405020304" pitchFamily="18" charset="0"/>
              </a:rPr>
              <a:t>: Because it relies solely on known signatures, Snort may miss novel or modified attacks that deviate from recognized patterns.</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Scalability Issues</a:t>
            </a:r>
            <a:r>
              <a:rPr lang="en-US" sz="1600">
                <a:latin typeface="Times New Roman" panose="02020603050405020304" pitchFamily="18" charset="0"/>
                <a:cs typeface="Times New Roman" panose="02020603050405020304" pitchFamily="18" charset="0"/>
              </a:rPr>
              <a:t>: Snort was not originally designed to scale across large, dynamic environments like cloud networks or IoT ecosystems, limiting its applicability in modern, distributed systems.</a:t>
            </a:r>
          </a:p>
          <a:p>
            <a:pPr marL="88900" indent="0">
              <a:buNone/>
            </a:pPr>
            <a:endParaRPr lang="en-IN"/>
          </a:p>
        </p:txBody>
      </p:sp>
      <p:sp>
        <p:nvSpPr>
          <p:cNvPr id="4" name="Slide Number Placeholder 3">
            <a:extLst>
              <a:ext uri="{FF2B5EF4-FFF2-40B4-BE49-F238E27FC236}">
                <a16:creationId xmlns:a16="http://schemas.microsoft.com/office/drawing/2014/main" id="{01577876-1E77-8C20-9E97-4DF0924511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791780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36959-C95F-E82A-D71B-B02213C236D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017B74E-FF0B-741E-B075-38BB73C3598F}"/>
              </a:ext>
            </a:extLst>
          </p:cNvPr>
          <p:cNvSpPr>
            <a:spLocks noGrp="1"/>
          </p:cNvSpPr>
          <p:nvPr>
            <p:ph type="body" idx="1"/>
          </p:nvPr>
        </p:nvSpPr>
        <p:spPr>
          <a:xfrm>
            <a:off x="311700" y="1536633"/>
            <a:ext cx="8402532" cy="4555200"/>
          </a:xfrm>
        </p:spPr>
        <p:txBody>
          <a:bodyPr/>
          <a:lstStyle/>
          <a:p>
            <a:pPr marL="88900" indent="0">
              <a:buNone/>
            </a:pPr>
            <a:r>
              <a:rPr lang="en-US" sz="1800" b="1"/>
              <a:t>OSSEC (Open Source Security)</a:t>
            </a:r>
          </a:p>
          <a:p>
            <a:pPr marL="88900" indent="0">
              <a:buNone/>
            </a:pPr>
            <a:endParaRPr lang="en-US" sz="1800"/>
          </a:p>
          <a:p>
            <a:pPr marL="88900" indent="0">
              <a:buNone/>
            </a:pPr>
            <a:r>
              <a:rPr lang="en-US" sz="1600" b="1">
                <a:latin typeface="Times New Roman" panose="02020603050405020304" pitchFamily="18" charset="0"/>
                <a:cs typeface="Times New Roman" panose="02020603050405020304" pitchFamily="18" charset="0"/>
              </a:rPr>
              <a:t>Overview</a:t>
            </a:r>
            <a:r>
              <a:rPr lang="en-US" sz="1600">
                <a:latin typeface="Times New Roman" panose="02020603050405020304" pitchFamily="18" charset="0"/>
                <a:cs typeface="Times New Roman" panose="02020603050405020304" pitchFamily="18" charset="0"/>
              </a:rPr>
              <a:t>: OSSEC is a free, open-source host-based IDS that provides log analysis, integrity checking, and rootkit detection for endpoint security. It’s commonly used to monitor system logs for suspicious activity on host systems.</a:t>
            </a:r>
          </a:p>
          <a:p>
            <a:pPr marL="88900" indent="0">
              <a:buNone/>
            </a:pPr>
            <a:endParaRPr lang="en-US" sz="1600" b="1">
              <a:latin typeface="Times New Roman" panose="02020603050405020304" pitchFamily="18" charset="0"/>
              <a:cs typeface="Times New Roman" panose="02020603050405020304" pitchFamily="18" charset="0"/>
            </a:endParaRPr>
          </a:p>
          <a:p>
            <a:pPr marL="88900" indent="0">
              <a:buNone/>
            </a:pPr>
            <a:r>
              <a:rPr lang="en-US" sz="1800" b="1">
                <a:latin typeface="Times New Roman" panose="02020603050405020304" pitchFamily="18" charset="0"/>
                <a:cs typeface="Times New Roman" panose="02020603050405020304" pitchFamily="18" charset="0"/>
              </a:rPr>
              <a:t>Limitations</a:t>
            </a:r>
            <a:r>
              <a:rPr lang="en-US" sz="180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Limited Network Monitoring</a:t>
            </a:r>
            <a:r>
              <a:rPr lang="en-US" sz="1600">
                <a:latin typeface="Times New Roman" panose="02020603050405020304" pitchFamily="18" charset="0"/>
                <a:cs typeface="Times New Roman" panose="02020603050405020304" pitchFamily="18" charset="0"/>
              </a:rPr>
              <a:t>: OSSEC is host-based and does not monitor network traffic directly, limiting its ability to detect network-wide threats.</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False Positives in Complex Environments</a:t>
            </a:r>
            <a:r>
              <a:rPr lang="en-US" sz="1600">
                <a:latin typeface="Times New Roman" panose="02020603050405020304" pitchFamily="18" charset="0"/>
                <a:cs typeface="Times New Roman" panose="02020603050405020304" pitchFamily="18" charset="0"/>
              </a:rPr>
              <a:t>: OSSEC often generates false positives in complex environments where regular system activity might mimic suspicious patterns, such as dynamic IP environments in cloud infrastructures.</a:t>
            </a:r>
          </a:p>
          <a:p>
            <a:pPr marL="742950" lvl="1" indent="-285750">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Resource Intensive on Hosts</a:t>
            </a:r>
            <a:r>
              <a:rPr lang="en-US" sz="1600">
                <a:latin typeface="Times New Roman" panose="02020603050405020304" pitchFamily="18" charset="0"/>
                <a:cs typeface="Times New Roman" panose="02020603050405020304" pitchFamily="18" charset="0"/>
              </a:rPr>
              <a:t>: OSSEC can consume substantial resources on host systems, which may impact performance, particularly for resource-constrained devices.</a:t>
            </a:r>
          </a:p>
          <a:p>
            <a:endParaRPr lang="en-IN"/>
          </a:p>
        </p:txBody>
      </p:sp>
      <p:sp>
        <p:nvSpPr>
          <p:cNvPr id="4" name="Slide Number Placeholder 3">
            <a:extLst>
              <a:ext uri="{FF2B5EF4-FFF2-40B4-BE49-F238E27FC236}">
                <a16:creationId xmlns:a16="http://schemas.microsoft.com/office/drawing/2014/main" id="{E2B92367-7210-3FC9-861E-E66CC5F7C2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94982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6DB7-46E2-9423-E509-79037C4D2B1B}"/>
              </a:ext>
            </a:extLst>
          </p:cNvPr>
          <p:cNvSpPr>
            <a:spLocks noGrp="1"/>
          </p:cNvSpPr>
          <p:nvPr>
            <p:ph type="title"/>
          </p:nvPr>
        </p:nvSpPr>
        <p:spPr/>
        <p:txBody>
          <a:bodyPr/>
          <a:lstStyle/>
          <a:p>
            <a:r>
              <a:rPr lang="en-IN" sz="2800" b="1"/>
              <a:t>Proposed System</a:t>
            </a:r>
          </a:p>
        </p:txBody>
      </p:sp>
      <p:sp>
        <p:nvSpPr>
          <p:cNvPr id="3" name="Text Placeholder 2">
            <a:extLst>
              <a:ext uri="{FF2B5EF4-FFF2-40B4-BE49-F238E27FC236}">
                <a16:creationId xmlns:a16="http://schemas.microsoft.com/office/drawing/2014/main" id="{7937600E-21F0-87D2-BD82-4DFC29EA33EB}"/>
              </a:ext>
            </a:extLst>
          </p:cNvPr>
          <p:cNvSpPr>
            <a:spLocks noGrp="1"/>
          </p:cNvSpPr>
          <p:nvPr>
            <p:ph type="body" idx="1"/>
          </p:nvPr>
        </p:nvSpPr>
        <p:spPr/>
        <p:txBody>
          <a:bodyPr/>
          <a:lstStyle/>
          <a:p>
            <a:pPr>
              <a:buFont typeface="Arial" panose="020B0604020202020204" pitchFamily="34" charset="0"/>
              <a:buChar char="•"/>
            </a:pPr>
            <a:r>
              <a:rPr lang="en-US" sz="1600" b="1"/>
              <a:t>Functional Description:</a:t>
            </a:r>
            <a:br>
              <a:rPr lang="en-US" sz="1600"/>
            </a:br>
            <a:r>
              <a:rPr lang="en-US" sz="1600"/>
              <a:t>The proposed IDS will utilize a hybrid detection methodology that combines signature-based and anomaly-based detection with stateful protocol analysis. It will incorporate machine learning algorithms, particularly Recurrent Neural Networks (RNNs), to adaptively detect threats across a variety of network environments.</a:t>
            </a:r>
          </a:p>
          <a:p>
            <a:pPr>
              <a:buFont typeface="Arial" panose="020B0604020202020204" pitchFamily="34" charset="0"/>
              <a:buChar char="•"/>
            </a:pPr>
            <a:r>
              <a:rPr lang="en-US" sz="1600" b="1"/>
              <a:t>Proposed Solution Architecture:</a:t>
            </a:r>
            <a:br>
              <a:rPr lang="en-US" sz="1600"/>
            </a:br>
            <a:r>
              <a:rPr lang="en-US" sz="1600"/>
              <a:t>The system will consist of the following components:</a:t>
            </a:r>
          </a:p>
          <a:p>
            <a:pPr marL="88900" indent="0">
              <a:buNone/>
            </a:pPr>
            <a:endParaRPr lang="en-US" sz="1600"/>
          </a:p>
          <a:p>
            <a:pPr>
              <a:buFont typeface="Wingdings" panose="05000000000000000000" pitchFamily="2" charset="2"/>
              <a:buChar char="Ø"/>
            </a:pPr>
            <a:r>
              <a:rPr lang="en-US" sz="1600" b="1"/>
              <a:t>Data Collection Layer</a:t>
            </a:r>
            <a:r>
              <a:rPr lang="en-US" sz="1600"/>
              <a:t>: Uses network monitoring tools and logs to gather data.</a:t>
            </a:r>
          </a:p>
          <a:p>
            <a:pPr>
              <a:buFont typeface="Wingdings" panose="05000000000000000000" pitchFamily="2" charset="2"/>
              <a:buChar char="Ø"/>
            </a:pPr>
            <a:r>
              <a:rPr lang="en-US" sz="1600" b="1"/>
              <a:t>Feature Extraction Module</a:t>
            </a:r>
            <a:r>
              <a:rPr lang="en-US" sz="1600"/>
              <a:t>: Processes network traffic, extracting features like protocol type, session duration, and packet size.</a:t>
            </a:r>
          </a:p>
          <a:p>
            <a:pPr>
              <a:buFont typeface="Wingdings" panose="05000000000000000000" pitchFamily="2" charset="2"/>
              <a:buChar char="Ø"/>
            </a:pPr>
            <a:r>
              <a:rPr lang="en-US" sz="1600" b="1"/>
              <a:t>Machine Learning Module</a:t>
            </a:r>
            <a:r>
              <a:rPr lang="en-US" sz="1600"/>
              <a:t>: Applies supervised and unsupervised algorithms to classify and detect anomalies.</a:t>
            </a:r>
          </a:p>
          <a:p>
            <a:pPr>
              <a:buFont typeface="Wingdings" panose="05000000000000000000" pitchFamily="2" charset="2"/>
              <a:buChar char="Ø"/>
            </a:pPr>
            <a:r>
              <a:rPr lang="en-US" sz="1600" b="1"/>
              <a:t>Alert Mechanism and Response System</a:t>
            </a:r>
            <a:r>
              <a:rPr lang="en-US" sz="1600"/>
              <a:t>: Generates alerts based on thresholds and provides administrators with insights and remediation options.</a:t>
            </a:r>
          </a:p>
          <a:p>
            <a:pPr>
              <a:buFont typeface="Wingdings" panose="05000000000000000000" pitchFamily="2" charset="2"/>
              <a:buChar char="Ø"/>
            </a:pPr>
            <a:r>
              <a:rPr lang="en-US" sz="1600" b="1"/>
              <a:t>Feedback Loop</a:t>
            </a:r>
            <a:r>
              <a:rPr lang="en-US" sz="1600"/>
              <a:t>: Continuously retrains models with new data to improve detection accuracy.</a:t>
            </a:r>
          </a:p>
          <a:p>
            <a:pPr>
              <a:buFont typeface="Wingdings" panose="05000000000000000000" pitchFamily="2" charset="2"/>
              <a:buChar char="Ø"/>
            </a:pPr>
            <a:endParaRPr lang="en-US" sz="1600"/>
          </a:p>
          <a:p>
            <a:pPr marL="88900" indent="0">
              <a:buNone/>
            </a:pPr>
            <a:endParaRPr lang="en-IN"/>
          </a:p>
        </p:txBody>
      </p:sp>
      <p:sp>
        <p:nvSpPr>
          <p:cNvPr id="4" name="Slide Number Placeholder 3">
            <a:extLst>
              <a:ext uri="{FF2B5EF4-FFF2-40B4-BE49-F238E27FC236}">
                <a16:creationId xmlns:a16="http://schemas.microsoft.com/office/drawing/2014/main" id="{4AB6B37C-7F4E-87B4-FB9F-34C3471EA0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754558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A72B5-0510-C080-66CE-A2669C7C81FA}"/>
              </a:ext>
            </a:extLst>
          </p:cNvPr>
          <p:cNvSpPr>
            <a:spLocks noGrp="1"/>
          </p:cNvSpPr>
          <p:nvPr>
            <p:ph type="title"/>
          </p:nvPr>
        </p:nvSpPr>
        <p:spPr/>
        <p:txBody>
          <a:bodyPr/>
          <a:lstStyle/>
          <a:p>
            <a:r>
              <a:rPr lang="en-IN" sz="2800" b="1"/>
              <a:t>Feasibility Analysis</a:t>
            </a:r>
          </a:p>
        </p:txBody>
      </p:sp>
      <p:sp>
        <p:nvSpPr>
          <p:cNvPr id="3" name="Text Placeholder 2">
            <a:extLst>
              <a:ext uri="{FF2B5EF4-FFF2-40B4-BE49-F238E27FC236}">
                <a16:creationId xmlns:a16="http://schemas.microsoft.com/office/drawing/2014/main" id="{52BEE883-B0B7-B49C-E6DD-16298A1B0F39}"/>
              </a:ext>
            </a:extLst>
          </p:cNvPr>
          <p:cNvSpPr>
            <a:spLocks noGrp="1"/>
          </p:cNvSpPr>
          <p:nvPr>
            <p:ph type="body" idx="1"/>
          </p:nvPr>
        </p:nvSpPr>
        <p:spPr/>
        <p:txBody>
          <a:bodyPr/>
          <a:lstStyle/>
          <a:p>
            <a:pPr marL="88900" indent="0">
              <a:buNone/>
            </a:pPr>
            <a:r>
              <a:rPr lang="en-US" sz="1800" b="1"/>
              <a:t>Software and Hardware Requirements:</a:t>
            </a:r>
            <a:endParaRPr lang="en-US" sz="1800"/>
          </a:p>
          <a:p>
            <a:pPr>
              <a:buFont typeface="Arial" panose="020B0604020202020204" pitchFamily="34" charset="0"/>
              <a:buChar char="•"/>
            </a:pPr>
            <a:r>
              <a:rPr lang="en-US" sz="1600" b="1"/>
              <a:t>Software</a:t>
            </a:r>
            <a:r>
              <a:rPr lang="en-US" sz="1600"/>
              <a:t>: Python, TensorFlow, Scikit-learn, Snort, MySQL/MongoDB.</a:t>
            </a:r>
          </a:p>
          <a:p>
            <a:pPr>
              <a:buFont typeface="Arial" panose="020B0604020202020204" pitchFamily="34" charset="0"/>
              <a:buChar char="•"/>
            </a:pPr>
            <a:r>
              <a:rPr lang="en-US" sz="1600" b="1"/>
              <a:t>Hardware</a:t>
            </a:r>
            <a:r>
              <a:rPr lang="en-US" sz="1600"/>
              <a:t>: Servers with Intel Xeon or AMD EPYC processors, 32 GB RAM, SSD storage, and high-bandwidth NICs for real-time data processing.</a:t>
            </a:r>
          </a:p>
          <a:p>
            <a:pPr marL="88900" indent="0">
              <a:buNone/>
            </a:pPr>
            <a:endParaRPr lang="en-US" sz="1600"/>
          </a:p>
          <a:p>
            <a:endParaRPr lang="en-US" sz="1600" b="1"/>
          </a:p>
          <a:p>
            <a:pPr>
              <a:buFont typeface="Wingdings" panose="05000000000000000000" pitchFamily="2" charset="2"/>
              <a:buChar char="Ø"/>
            </a:pPr>
            <a:r>
              <a:rPr lang="en-US" sz="1600" b="1"/>
              <a:t>Time</a:t>
            </a:r>
            <a:r>
              <a:rPr lang="en-US" sz="1600"/>
              <a:t>: The project will follow a structured timeline over five months, divided into phases for requirements analysis, system design, coding, testing, and deployment.</a:t>
            </a:r>
          </a:p>
          <a:p>
            <a:pPr>
              <a:buFont typeface="Wingdings" panose="05000000000000000000" pitchFamily="2" charset="2"/>
              <a:buChar char="Ø"/>
            </a:pPr>
            <a:r>
              <a:rPr lang="en-US" sz="1600" b="1"/>
              <a:t>Cost</a:t>
            </a:r>
            <a:r>
              <a:rPr lang="en-US" sz="1600"/>
              <a:t>: This project primarily relies on open-source tools, with major costs stemming from server hardware, machine learning libraries, and implementation resources.</a:t>
            </a:r>
          </a:p>
          <a:p>
            <a:pPr>
              <a:buFont typeface="Wingdings" panose="05000000000000000000" pitchFamily="2" charset="2"/>
              <a:buChar char="Ø"/>
            </a:pPr>
            <a:r>
              <a:rPr lang="en-US" sz="1600" b="1"/>
              <a:t>Implementation Issues</a:t>
            </a:r>
            <a:r>
              <a:rPr lang="en-US" sz="1600"/>
              <a:t>: Potential challenges include ensuring compatibility with existing security systems, managing computational requirements for real-time processing, and addressing privacy concerns when monitoring network traffic.</a:t>
            </a:r>
          </a:p>
          <a:p>
            <a:endParaRPr lang="en-IN"/>
          </a:p>
        </p:txBody>
      </p:sp>
      <p:sp>
        <p:nvSpPr>
          <p:cNvPr id="4" name="Slide Number Placeholder 3">
            <a:extLst>
              <a:ext uri="{FF2B5EF4-FFF2-40B4-BE49-F238E27FC236}">
                <a16:creationId xmlns:a16="http://schemas.microsoft.com/office/drawing/2014/main" id="{8755CDC7-578C-9A85-BBAD-5AA2FE6FF6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419490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8574-C9D3-7F18-F945-E192DBDC8EEB}"/>
              </a:ext>
            </a:extLst>
          </p:cNvPr>
          <p:cNvSpPr>
            <a:spLocks noGrp="1"/>
          </p:cNvSpPr>
          <p:nvPr>
            <p:ph type="title"/>
          </p:nvPr>
        </p:nvSpPr>
        <p:spPr/>
        <p:txBody>
          <a:bodyPr/>
          <a:lstStyle/>
          <a:p>
            <a:r>
              <a:rPr lang="en-US" sz="2800" b="1"/>
              <a:t>Benefits of Proposed System</a:t>
            </a:r>
            <a:br>
              <a:rPr lang="en-US" b="1"/>
            </a:br>
            <a:endParaRPr lang="en-IN"/>
          </a:p>
        </p:txBody>
      </p:sp>
      <p:sp>
        <p:nvSpPr>
          <p:cNvPr id="3" name="Text Placeholder 2">
            <a:extLst>
              <a:ext uri="{FF2B5EF4-FFF2-40B4-BE49-F238E27FC236}">
                <a16:creationId xmlns:a16="http://schemas.microsoft.com/office/drawing/2014/main" id="{C3D94352-1724-D14B-43C4-C6EBF000F014}"/>
              </a:ext>
            </a:extLst>
          </p:cNvPr>
          <p:cNvSpPr>
            <a:spLocks noGrp="1"/>
          </p:cNvSpPr>
          <p:nvPr>
            <p:ph type="body" idx="1"/>
          </p:nvPr>
        </p:nvSpPr>
        <p:spPr/>
        <p:txBody>
          <a:bodyPr/>
          <a:lstStyle/>
          <a:p>
            <a:pPr marL="88900" indent="0">
              <a:buNone/>
            </a:pPr>
            <a:r>
              <a:rPr lang="en-US" sz="1800" b="1"/>
              <a:t>Project Goals and Objectives:</a:t>
            </a:r>
          </a:p>
          <a:p>
            <a:pPr marL="88900" indent="0">
              <a:buNone/>
            </a:pPr>
            <a:endParaRPr lang="en-US" sz="1800"/>
          </a:p>
          <a:p>
            <a:pPr>
              <a:buFont typeface="Arial" panose="020B0604020202020204" pitchFamily="34" charset="0"/>
              <a:buChar char="•"/>
            </a:pPr>
            <a:r>
              <a:rPr lang="en-US" sz="1600" b="1"/>
              <a:t>Real-Time Monitoring</a:t>
            </a:r>
            <a:r>
              <a:rPr lang="en-US" sz="1600"/>
              <a:t>: Providing continuous monitoring to detect intrusions as they happen.</a:t>
            </a:r>
          </a:p>
          <a:p>
            <a:pPr>
              <a:buFont typeface="Arial" panose="020B0604020202020204" pitchFamily="34" charset="0"/>
              <a:buChar char="•"/>
            </a:pPr>
            <a:r>
              <a:rPr lang="en-US" sz="1600" b="1"/>
              <a:t>Adaptive Threat Detection</a:t>
            </a:r>
            <a:r>
              <a:rPr lang="en-US" sz="1600"/>
              <a:t>: Utilizing machine learning for detecting unknown threats and reducing false positives.</a:t>
            </a:r>
          </a:p>
          <a:p>
            <a:pPr>
              <a:buFont typeface="Arial" panose="020B0604020202020204" pitchFamily="34" charset="0"/>
              <a:buChar char="•"/>
            </a:pPr>
            <a:r>
              <a:rPr lang="en-US" sz="1600" b="1"/>
              <a:t>User Behavior Analysis</a:t>
            </a:r>
            <a:r>
              <a:rPr lang="en-US" sz="1600"/>
              <a:t>: Enabling insights into user activity to detect insider threats.</a:t>
            </a:r>
          </a:p>
          <a:p>
            <a:pPr>
              <a:buFont typeface="Arial" panose="020B0604020202020204" pitchFamily="34" charset="0"/>
              <a:buChar char="•"/>
            </a:pPr>
            <a:r>
              <a:rPr lang="en-US" sz="1600" b="1"/>
              <a:t>Scalability</a:t>
            </a:r>
            <a:r>
              <a:rPr lang="en-US" sz="1600"/>
              <a:t>: Ensuring system adaptability to different network sizes, including IoT and cloud environments.</a:t>
            </a:r>
          </a:p>
          <a:p>
            <a:pPr>
              <a:buFont typeface="Arial" panose="020B0604020202020204" pitchFamily="34" charset="0"/>
              <a:buChar char="•"/>
            </a:pPr>
            <a:r>
              <a:rPr lang="en-US" sz="1600" b="1"/>
              <a:t>Enhanced Integration</a:t>
            </a:r>
            <a:r>
              <a:rPr lang="en-US" sz="1600"/>
              <a:t>: Compatibility with existing security measures like firewalls and antivirus solutions.</a:t>
            </a:r>
          </a:p>
          <a:p>
            <a:endParaRPr lang="en-IN"/>
          </a:p>
        </p:txBody>
      </p:sp>
      <p:sp>
        <p:nvSpPr>
          <p:cNvPr id="4" name="Slide Number Placeholder 3">
            <a:extLst>
              <a:ext uri="{FF2B5EF4-FFF2-40B4-BE49-F238E27FC236}">
                <a16:creationId xmlns:a16="http://schemas.microsoft.com/office/drawing/2014/main" id="{42E2974C-DFC8-9891-9959-D8A8256EB2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561676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F27B6-BD9E-C80A-5A79-99D1EA8F7D31}"/>
              </a:ext>
            </a:extLst>
          </p:cNvPr>
          <p:cNvSpPr>
            <a:spLocks noGrp="1"/>
          </p:cNvSpPr>
          <p:nvPr>
            <p:ph type="title"/>
          </p:nvPr>
        </p:nvSpPr>
        <p:spPr/>
        <p:txBody>
          <a:bodyPr/>
          <a:lstStyle/>
          <a:p>
            <a:r>
              <a:rPr lang="en-IN" sz="2800" b="1" i="0">
                <a:effectLst/>
                <a:latin typeface="Times New Roman" panose="02020603050405020304" pitchFamily="18" charset="0"/>
                <a:cs typeface="Times New Roman" panose="02020603050405020304" pitchFamily="18" charset="0"/>
              </a:rPr>
              <a:t>Requirement description</a:t>
            </a:r>
            <a:endParaRPr lang="en-IN" sz="2800"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DA69F71-A255-89E7-A98C-E72FC4381D5F}"/>
              </a:ext>
            </a:extLst>
          </p:cNvPr>
          <p:cNvSpPr>
            <a:spLocks noGrp="1"/>
          </p:cNvSpPr>
          <p:nvPr>
            <p:ph type="body" idx="1"/>
          </p:nvPr>
        </p:nvSpPr>
        <p:spPr>
          <a:xfrm>
            <a:off x="311700" y="1133856"/>
            <a:ext cx="8520600" cy="4957977"/>
          </a:xfrm>
        </p:spPr>
        <p:txBody>
          <a:bodyPr/>
          <a:lstStyle/>
          <a:p>
            <a:pPr marL="88900" indent="0">
              <a:buNone/>
            </a:pPr>
            <a:r>
              <a:rPr lang="en-US" sz="1800" b="1"/>
              <a:t>Functional Requirements (What the system should do):</a:t>
            </a:r>
          </a:p>
          <a:p>
            <a:pPr marL="88900" indent="0">
              <a:buNone/>
            </a:pPr>
            <a:endParaRPr lang="en-US" sz="1600"/>
          </a:p>
          <a:p>
            <a:pPr>
              <a:buFont typeface="Arial" panose="020B0604020202020204" pitchFamily="34" charset="0"/>
              <a:buChar char="•"/>
            </a:pPr>
            <a:r>
              <a:rPr lang="en-US" sz="1600" b="1"/>
              <a:t>Detection of Unauthorized Access: </a:t>
            </a:r>
            <a:r>
              <a:rPr lang="en-US" sz="1600"/>
              <a:t>Identify and flag illegitimate attempts to access network resources.</a:t>
            </a:r>
          </a:p>
          <a:p>
            <a:pPr>
              <a:buFont typeface="Arial" panose="020B0604020202020204" pitchFamily="34" charset="0"/>
              <a:buChar char="•"/>
            </a:pPr>
            <a:r>
              <a:rPr lang="en-US" sz="1600" b="1"/>
              <a:t>Real-Time Anomaly Detection</a:t>
            </a:r>
            <a:r>
              <a:rPr lang="en-US" sz="1600"/>
              <a:t>: Monitor network activity in real time to detect deviations and potential intrusions.</a:t>
            </a:r>
          </a:p>
          <a:p>
            <a:pPr>
              <a:buFont typeface="Arial" panose="020B0604020202020204" pitchFamily="34" charset="0"/>
              <a:buChar char="•"/>
            </a:pPr>
            <a:r>
              <a:rPr lang="en-US" sz="1600" b="1"/>
              <a:t>Threat Identification: </a:t>
            </a:r>
            <a:r>
              <a:rPr lang="en-US" sz="1600"/>
              <a:t>Detect both known (signature-based) and unknown (machine learning-based) threats.</a:t>
            </a:r>
          </a:p>
          <a:p>
            <a:pPr>
              <a:buFont typeface="Arial" panose="020B0604020202020204" pitchFamily="34" charset="0"/>
              <a:buChar char="•"/>
            </a:pPr>
            <a:r>
              <a:rPr lang="en-US" sz="1600" b="1"/>
              <a:t>Incident Response Enhancement: </a:t>
            </a:r>
            <a:r>
              <a:rPr lang="en-US" sz="1600"/>
              <a:t>Provide actionable insights and alerts to assist security personnel in responding to threats.</a:t>
            </a:r>
          </a:p>
          <a:p>
            <a:pPr>
              <a:buFont typeface="Arial" panose="020B0604020202020204" pitchFamily="34" charset="0"/>
              <a:buChar char="•"/>
            </a:pPr>
            <a:r>
              <a:rPr lang="en-US" sz="1600" b="1"/>
              <a:t>Adaptation to Changing Threats: </a:t>
            </a:r>
            <a:r>
              <a:rPr lang="en-US" sz="1600"/>
              <a:t>Continuously learn from new data and update detection algorithms.</a:t>
            </a:r>
          </a:p>
          <a:p>
            <a:pPr>
              <a:buFont typeface="Arial" panose="020B0604020202020204" pitchFamily="34" charset="0"/>
              <a:buChar char="•"/>
            </a:pPr>
            <a:r>
              <a:rPr lang="en-US" sz="1600" b="1"/>
              <a:t>User Behavior Analytics: </a:t>
            </a:r>
            <a:r>
              <a:rPr lang="en-US" sz="1600"/>
              <a:t>Analyze user behavior to detect insider threats and compromised accounts.</a:t>
            </a:r>
          </a:p>
          <a:p>
            <a:pPr>
              <a:buFont typeface="Arial" panose="020B0604020202020204" pitchFamily="34" charset="0"/>
              <a:buChar char="•"/>
            </a:pPr>
            <a:r>
              <a:rPr lang="en-US" sz="1600" b="1"/>
              <a:t>Integration with Existing Security Infrastructure: </a:t>
            </a:r>
            <a:r>
              <a:rPr lang="en-US" sz="1600"/>
              <a:t>Seamlessly work with firewalls and antivirus software for a coordinated defense.</a:t>
            </a:r>
          </a:p>
          <a:p>
            <a:pPr>
              <a:buFont typeface="Arial" panose="020B0604020202020204" pitchFamily="34" charset="0"/>
              <a:buChar char="•"/>
            </a:pPr>
            <a:r>
              <a:rPr lang="en-US" sz="1600" b="1"/>
              <a:t>Reporting and Compliance: </a:t>
            </a:r>
            <a:r>
              <a:rPr lang="en-US" sz="1600"/>
              <a:t>Provide detailed reports for security trend analysis, regulatory compliance, and policy improvement.</a:t>
            </a:r>
          </a:p>
          <a:p>
            <a:pPr>
              <a:buFont typeface="Arial" panose="020B0604020202020204" pitchFamily="34" charset="0"/>
              <a:buChar char="•"/>
            </a:pPr>
            <a:r>
              <a:rPr lang="en-US" sz="1600" b="1"/>
              <a:t>Scalability: </a:t>
            </a:r>
            <a:r>
              <a:rPr lang="en-US" sz="1600"/>
              <a:t>Scale to handle growing network traffic and new endpoints without compromising performance.</a:t>
            </a:r>
          </a:p>
          <a:p>
            <a:pPr marL="88900" indent="0">
              <a:buNone/>
            </a:pPr>
            <a:endParaRPr lang="en-IN"/>
          </a:p>
        </p:txBody>
      </p:sp>
      <p:sp>
        <p:nvSpPr>
          <p:cNvPr id="4" name="Slide Number Placeholder 3">
            <a:extLst>
              <a:ext uri="{FF2B5EF4-FFF2-40B4-BE49-F238E27FC236}">
                <a16:creationId xmlns:a16="http://schemas.microsoft.com/office/drawing/2014/main" id="{C4F6B442-648C-5CF3-5E6C-0FBB1A941C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380370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3C7B-0AD9-D938-1955-D64F41BB227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6694E09-154C-4092-CF84-601213B02A57}"/>
              </a:ext>
            </a:extLst>
          </p:cNvPr>
          <p:cNvSpPr>
            <a:spLocks noGrp="1"/>
          </p:cNvSpPr>
          <p:nvPr>
            <p:ph type="body" idx="1"/>
          </p:nvPr>
        </p:nvSpPr>
        <p:spPr/>
        <p:txBody>
          <a:bodyPr/>
          <a:lstStyle/>
          <a:p>
            <a:pPr marL="88900" indent="0">
              <a:buNone/>
            </a:pPr>
            <a:r>
              <a:rPr lang="en-US" sz="2000" b="1"/>
              <a:t>Non-Functional Requirements (How the system should be):</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Performance:</a:t>
            </a:r>
          </a:p>
          <a:p>
            <a:pPr lvl="1">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Real-Time Processing: Ensure immediate threat detection and response.</a:t>
            </a:r>
          </a:p>
          <a:p>
            <a:pPr lvl="1">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High Detection Rate: Accurately detect a high percentage of intrusions while minimizing false positives.</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Low False Positive Rate: </a:t>
            </a:r>
            <a:r>
              <a:rPr lang="en-US" sz="1600">
                <a:latin typeface="Times New Roman" panose="02020603050405020304" pitchFamily="18" charset="0"/>
                <a:cs typeface="Times New Roman" panose="02020603050405020304" pitchFamily="18" charset="0"/>
              </a:rPr>
              <a:t>Minimize false alarms to avoid alert fatigue.</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Reliability: </a:t>
            </a:r>
            <a:r>
              <a:rPr lang="en-US" sz="1600">
                <a:latin typeface="Times New Roman" panose="02020603050405020304" pitchFamily="18" charset="0"/>
                <a:cs typeface="Times New Roman" panose="02020603050405020304" pitchFamily="18" charset="0"/>
              </a:rPr>
              <a:t>Ensure consistent operation for continuous threat monitoring.</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Availability: </a:t>
            </a:r>
            <a:r>
              <a:rPr lang="en-US" sz="1600">
                <a:latin typeface="Times New Roman" panose="02020603050405020304" pitchFamily="18" charset="0"/>
                <a:cs typeface="Times New Roman" panose="02020603050405020304" pitchFamily="18" charset="0"/>
              </a:rPr>
              <a:t>Provide uninterrupted security monitoring with minimal downtime.</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Security: </a:t>
            </a:r>
            <a:r>
              <a:rPr lang="en-US" sz="1600">
                <a:latin typeface="Times New Roman" panose="02020603050405020304" pitchFamily="18" charset="0"/>
                <a:cs typeface="Times New Roman" panose="02020603050405020304" pitchFamily="18" charset="0"/>
              </a:rPr>
              <a:t>Protect the IDS itself from attacks to maintain system integrity.</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Usability: </a:t>
            </a:r>
            <a:r>
              <a:rPr lang="en-US" sz="1600">
                <a:latin typeface="Times New Roman" panose="02020603050405020304" pitchFamily="18" charset="0"/>
                <a:cs typeface="Times New Roman" panose="02020603050405020304" pitchFamily="18" charset="0"/>
              </a:rPr>
              <a:t>Provide a user-friendly interface for administrators to manage and monitor the system.</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Maintainability: </a:t>
            </a:r>
            <a:r>
              <a:rPr lang="en-US" sz="1600">
                <a:latin typeface="Times New Roman" panose="02020603050405020304" pitchFamily="18" charset="0"/>
                <a:cs typeface="Times New Roman" panose="02020603050405020304" pitchFamily="18" charset="0"/>
              </a:rPr>
              <a:t>Design the system for easy updates, bug fixes, and configuration changes.</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Portability: </a:t>
            </a:r>
            <a:r>
              <a:rPr lang="en-US" sz="1600">
                <a:latin typeface="Times New Roman" panose="02020603050405020304" pitchFamily="18" charset="0"/>
                <a:cs typeface="Times New Roman" panose="02020603050405020304" pitchFamily="18" charset="0"/>
              </a:rPr>
              <a:t>Ensure compatibility with different operating systems and hardware platforms.</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Compliance</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Meet relevant cybersecurity regulations and standards for data protection.</a:t>
            </a:r>
          </a:p>
          <a:p>
            <a:pPr>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Resource Efficiency: </a:t>
            </a:r>
            <a:r>
              <a:rPr lang="en-US" sz="1600">
                <a:latin typeface="Times New Roman" panose="02020603050405020304" pitchFamily="18" charset="0"/>
                <a:cs typeface="Times New Roman" panose="02020603050405020304" pitchFamily="18" charset="0"/>
              </a:rPr>
              <a:t>Optimize use of computational resources for better performance and scalability.</a:t>
            </a:r>
          </a:p>
          <a:p>
            <a:pPr marL="88900" indent="0">
              <a:buNone/>
            </a:pPr>
            <a:endParaRPr lang="en-IN" sz="1600"/>
          </a:p>
        </p:txBody>
      </p:sp>
      <p:sp>
        <p:nvSpPr>
          <p:cNvPr id="4" name="Slide Number Placeholder 3">
            <a:extLst>
              <a:ext uri="{FF2B5EF4-FFF2-40B4-BE49-F238E27FC236}">
                <a16:creationId xmlns:a16="http://schemas.microsoft.com/office/drawing/2014/main" id="{1A1AB9A3-B5BD-7FDC-926D-6B5168FA81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585860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423C4-6EA7-5A4C-5305-5F60237D63B6}"/>
              </a:ext>
            </a:extLst>
          </p:cNvPr>
          <p:cNvSpPr>
            <a:spLocks noGrp="1"/>
          </p:cNvSpPr>
          <p:nvPr>
            <p:ph type="title"/>
          </p:nvPr>
        </p:nvSpPr>
        <p:spPr/>
        <p:txBody>
          <a:bodyPr/>
          <a:lstStyle/>
          <a:p>
            <a:r>
              <a:rPr lang="en-IN" sz="2800" b="1" i="0">
                <a:effectLst/>
                <a:latin typeface="Times New Roman" panose="02020603050405020304" pitchFamily="18" charset="0"/>
                <a:cs typeface="Times New Roman" panose="02020603050405020304" pitchFamily="18" charset="0"/>
              </a:rPr>
              <a:t>Analysis modelling</a:t>
            </a:r>
            <a:br>
              <a:rPr lang="en-IN" sz="2800" b="1">
                <a:latin typeface="Times New Roman" panose="02020603050405020304" pitchFamily="18" charset="0"/>
                <a:cs typeface="Times New Roman" panose="02020603050405020304" pitchFamily="18" charset="0"/>
              </a:rPr>
            </a:br>
            <a:endParaRPr lang="en-IN" sz="2800"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155BE57-922F-E2B8-65D9-E64AD5D95B6A}"/>
              </a:ext>
            </a:extLst>
          </p:cNvPr>
          <p:cNvSpPr>
            <a:spLocks noGrp="1"/>
          </p:cNvSpPr>
          <p:nvPr>
            <p:ph type="body" idx="1"/>
          </p:nvPr>
        </p:nvSpPr>
        <p:spPr/>
        <p:txBody>
          <a:bodyPr/>
          <a:lstStyle/>
          <a:p>
            <a:pPr marL="88900" indent="0">
              <a:buNone/>
            </a:pPr>
            <a:r>
              <a:rPr lang="en-IN" sz="1800" b="1"/>
              <a:t>Architecture Diagram</a:t>
            </a:r>
            <a:endParaRPr lang="en-IN" b="1"/>
          </a:p>
        </p:txBody>
      </p:sp>
      <p:sp>
        <p:nvSpPr>
          <p:cNvPr id="4" name="Slide Number Placeholder 3">
            <a:extLst>
              <a:ext uri="{FF2B5EF4-FFF2-40B4-BE49-F238E27FC236}">
                <a16:creationId xmlns:a16="http://schemas.microsoft.com/office/drawing/2014/main" id="{7207AD71-CE9D-3C31-2011-F5EE74633D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7B0D92BD-E811-2D0D-EE26-3B4F6E553E73}"/>
              </a:ext>
            </a:extLst>
          </p:cNvPr>
          <p:cNvPicPr>
            <a:picLocks noChangeAspect="1"/>
          </p:cNvPicPr>
          <p:nvPr/>
        </p:nvPicPr>
        <p:blipFill>
          <a:blip r:embed="rId2"/>
          <a:stretch>
            <a:fillRect/>
          </a:stretch>
        </p:blipFill>
        <p:spPr>
          <a:xfrm>
            <a:off x="335756" y="2087847"/>
            <a:ext cx="8472488" cy="3926173"/>
          </a:xfrm>
          <a:prstGeom prst="rect">
            <a:avLst/>
          </a:prstGeom>
        </p:spPr>
      </p:pic>
    </p:spTree>
    <p:extLst>
      <p:ext uri="{BB962C8B-B14F-4D97-AF65-F5344CB8AC3E}">
        <p14:creationId xmlns:p14="http://schemas.microsoft.com/office/powerpoint/2010/main" val="2949882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EC12-9995-6E1D-FB3B-B71719EDC747}"/>
              </a:ext>
            </a:extLst>
          </p:cNvPr>
          <p:cNvSpPr>
            <a:spLocks noGrp="1"/>
          </p:cNvSpPr>
          <p:nvPr>
            <p:ph type="title"/>
          </p:nvPr>
        </p:nvSpPr>
        <p:spPr/>
        <p:txBody>
          <a:bodyPr/>
          <a:lstStyle/>
          <a:p>
            <a:r>
              <a:rPr lang="en-IN" sz="2000" b="1"/>
              <a:t>Data Flow Diagram</a:t>
            </a:r>
          </a:p>
        </p:txBody>
      </p:sp>
      <p:sp>
        <p:nvSpPr>
          <p:cNvPr id="3" name="Text Placeholder 2">
            <a:extLst>
              <a:ext uri="{FF2B5EF4-FFF2-40B4-BE49-F238E27FC236}">
                <a16:creationId xmlns:a16="http://schemas.microsoft.com/office/drawing/2014/main" id="{39876D1F-69D3-5D33-6E37-77BA72136CF4}"/>
              </a:ext>
            </a:extLst>
          </p:cNvPr>
          <p:cNvSpPr>
            <a:spLocks noGrp="1"/>
          </p:cNvSpPr>
          <p:nvPr>
            <p:ph type="body" idx="1"/>
          </p:nvPr>
        </p:nvSpPr>
        <p:spPr/>
        <p:txBody>
          <a:bodyPr/>
          <a:lstStyle/>
          <a:p>
            <a:pPr marL="88900" indent="0">
              <a:buNone/>
            </a:pPr>
            <a:r>
              <a:rPr lang="en-IN" sz="2000" b="1"/>
              <a:t>Level 0</a:t>
            </a:r>
            <a:endParaRPr lang="en-IN" b="1"/>
          </a:p>
        </p:txBody>
      </p:sp>
      <p:sp>
        <p:nvSpPr>
          <p:cNvPr id="4" name="Slide Number Placeholder 3">
            <a:extLst>
              <a:ext uri="{FF2B5EF4-FFF2-40B4-BE49-F238E27FC236}">
                <a16:creationId xmlns:a16="http://schemas.microsoft.com/office/drawing/2014/main" id="{532FDCC2-B115-DCC2-6E90-FAC09BE7DB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5" name="Picture 4" descr="A diagram of a system&#10;&#10;Description automatically generated">
            <a:extLst>
              <a:ext uri="{FF2B5EF4-FFF2-40B4-BE49-F238E27FC236}">
                <a16:creationId xmlns:a16="http://schemas.microsoft.com/office/drawing/2014/main" id="{8F714F7E-2597-42DB-1B6D-9EE439D7D7CC}"/>
              </a:ext>
            </a:extLst>
          </p:cNvPr>
          <p:cNvPicPr>
            <a:picLocks noChangeAspect="1"/>
          </p:cNvPicPr>
          <p:nvPr/>
        </p:nvPicPr>
        <p:blipFill>
          <a:blip r:embed="rId2"/>
          <a:stretch>
            <a:fillRect/>
          </a:stretch>
        </p:blipFill>
        <p:spPr>
          <a:xfrm>
            <a:off x="1086323" y="2390982"/>
            <a:ext cx="6565164" cy="2841184"/>
          </a:xfrm>
          <a:prstGeom prst="rect">
            <a:avLst/>
          </a:prstGeom>
        </p:spPr>
      </p:pic>
    </p:spTree>
    <p:extLst>
      <p:ext uri="{BB962C8B-B14F-4D97-AF65-F5344CB8AC3E}">
        <p14:creationId xmlns:p14="http://schemas.microsoft.com/office/powerpoint/2010/main" val="3164654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9524-CA5A-AD84-3DB0-B6836382A377}"/>
              </a:ext>
            </a:extLst>
          </p:cNvPr>
          <p:cNvSpPr>
            <a:spLocks noGrp="1"/>
          </p:cNvSpPr>
          <p:nvPr>
            <p:ph type="title"/>
          </p:nvPr>
        </p:nvSpPr>
        <p:spPr/>
        <p:txBody>
          <a:bodyPr/>
          <a:lstStyle/>
          <a:p>
            <a:r>
              <a:rPr lang="en-IN" sz="1600" b="1"/>
              <a:t>Level 1 User DFD</a:t>
            </a:r>
            <a:endParaRPr lang="en-IN" b="1"/>
          </a:p>
        </p:txBody>
      </p:sp>
      <p:sp>
        <p:nvSpPr>
          <p:cNvPr id="3" name="Text Placeholder 2">
            <a:extLst>
              <a:ext uri="{FF2B5EF4-FFF2-40B4-BE49-F238E27FC236}">
                <a16:creationId xmlns:a16="http://schemas.microsoft.com/office/drawing/2014/main" id="{79F5CC26-A830-BF8D-AD47-00E5C41E67F8}"/>
              </a:ext>
            </a:extLst>
          </p:cNvPr>
          <p:cNvSpPr>
            <a:spLocks noGrp="1"/>
          </p:cNvSpPr>
          <p:nvPr>
            <p:ph type="body" idx="1"/>
          </p:nvPr>
        </p:nvSpPr>
        <p:spPr/>
        <p:txBody>
          <a:bodyPr/>
          <a:lstStyle/>
          <a:p>
            <a:pPr marL="88900" indent="0">
              <a:buNone/>
            </a:pPr>
            <a:endParaRPr lang="en-IN"/>
          </a:p>
        </p:txBody>
      </p:sp>
      <p:sp>
        <p:nvSpPr>
          <p:cNvPr id="4" name="Slide Number Placeholder 3">
            <a:extLst>
              <a:ext uri="{FF2B5EF4-FFF2-40B4-BE49-F238E27FC236}">
                <a16:creationId xmlns:a16="http://schemas.microsoft.com/office/drawing/2014/main" id="{39D50606-B540-7726-E075-B438E302D2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5" name="Picture 4" descr="A diagram of a data flow&#10;&#10;Description automatically generated">
            <a:extLst>
              <a:ext uri="{FF2B5EF4-FFF2-40B4-BE49-F238E27FC236}">
                <a16:creationId xmlns:a16="http://schemas.microsoft.com/office/drawing/2014/main" id="{C84385FA-FA95-0AE8-FE08-786C64C3E9AA}"/>
              </a:ext>
            </a:extLst>
          </p:cNvPr>
          <p:cNvPicPr>
            <a:picLocks noChangeAspect="1"/>
          </p:cNvPicPr>
          <p:nvPr/>
        </p:nvPicPr>
        <p:blipFill>
          <a:blip r:embed="rId2"/>
          <a:stretch>
            <a:fillRect/>
          </a:stretch>
        </p:blipFill>
        <p:spPr>
          <a:xfrm>
            <a:off x="219456" y="1538266"/>
            <a:ext cx="8802307" cy="4543468"/>
          </a:xfrm>
          <a:prstGeom prst="rect">
            <a:avLst/>
          </a:prstGeom>
        </p:spPr>
      </p:pic>
    </p:spTree>
    <p:extLst>
      <p:ext uri="{BB962C8B-B14F-4D97-AF65-F5344CB8AC3E}">
        <p14:creationId xmlns:p14="http://schemas.microsoft.com/office/powerpoint/2010/main" val="97668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9524-CA5A-AD84-3DB0-B6836382A377}"/>
              </a:ext>
            </a:extLst>
          </p:cNvPr>
          <p:cNvSpPr>
            <a:spLocks noGrp="1"/>
          </p:cNvSpPr>
          <p:nvPr>
            <p:ph type="title"/>
          </p:nvPr>
        </p:nvSpPr>
        <p:spPr/>
        <p:txBody>
          <a:bodyPr/>
          <a:lstStyle/>
          <a:p>
            <a:r>
              <a:rPr lang="en-IN" sz="1600" b="1"/>
              <a:t>Level 1 ADMIN DFD</a:t>
            </a:r>
            <a:endParaRPr lang="en-IN" b="1"/>
          </a:p>
        </p:txBody>
      </p:sp>
      <p:sp>
        <p:nvSpPr>
          <p:cNvPr id="3" name="Text Placeholder 2">
            <a:extLst>
              <a:ext uri="{FF2B5EF4-FFF2-40B4-BE49-F238E27FC236}">
                <a16:creationId xmlns:a16="http://schemas.microsoft.com/office/drawing/2014/main" id="{79F5CC26-A830-BF8D-AD47-00E5C41E67F8}"/>
              </a:ext>
            </a:extLst>
          </p:cNvPr>
          <p:cNvSpPr>
            <a:spLocks noGrp="1"/>
          </p:cNvSpPr>
          <p:nvPr>
            <p:ph type="body" idx="1"/>
          </p:nvPr>
        </p:nvSpPr>
        <p:spPr/>
        <p:txBody>
          <a:bodyPr/>
          <a:lstStyle/>
          <a:p>
            <a:pPr marL="88900" indent="0">
              <a:buNone/>
            </a:pPr>
            <a:endParaRPr lang="en-IN"/>
          </a:p>
        </p:txBody>
      </p:sp>
      <p:sp>
        <p:nvSpPr>
          <p:cNvPr id="4" name="Slide Number Placeholder 3">
            <a:extLst>
              <a:ext uri="{FF2B5EF4-FFF2-40B4-BE49-F238E27FC236}">
                <a16:creationId xmlns:a16="http://schemas.microsoft.com/office/drawing/2014/main" id="{39D50606-B540-7726-E075-B438E302D2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6" name="Picture 5" descr="A diagram of a data flow&#10;&#10;Description automatically generated">
            <a:extLst>
              <a:ext uri="{FF2B5EF4-FFF2-40B4-BE49-F238E27FC236}">
                <a16:creationId xmlns:a16="http://schemas.microsoft.com/office/drawing/2014/main" id="{8828E5B4-C834-4DD1-0D71-394D08E55C4A}"/>
              </a:ext>
            </a:extLst>
          </p:cNvPr>
          <p:cNvPicPr>
            <a:picLocks noChangeAspect="1"/>
          </p:cNvPicPr>
          <p:nvPr/>
        </p:nvPicPr>
        <p:blipFill>
          <a:blip r:embed="rId2"/>
          <a:stretch>
            <a:fillRect/>
          </a:stretch>
        </p:blipFill>
        <p:spPr>
          <a:xfrm>
            <a:off x="956809" y="1352550"/>
            <a:ext cx="7325633" cy="4543425"/>
          </a:xfrm>
          <a:prstGeom prst="rect">
            <a:avLst/>
          </a:prstGeom>
        </p:spPr>
      </p:pic>
    </p:spTree>
    <p:extLst>
      <p:ext uri="{BB962C8B-B14F-4D97-AF65-F5344CB8AC3E}">
        <p14:creationId xmlns:p14="http://schemas.microsoft.com/office/powerpoint/2010/main" val="2762679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0C78-809E-4597-4949-4857A5CFFA70}"/>
              </a:ext>
            </a:extLst>
          </p:cNvPr>
          <p:cNvSpPr>
            <a:spLocks noGrp="1"/>
          </p:cNvSpPr>
          <p:nvPr>
            <p:ph type="title"/>
          </p:nvPr>
        </p:nvSpPr>
        <p:spPr/>
        <p:txBody>
          <a:bodyPr/>
          <a:lstStyle/>
          <a:p>
            <a:r>
              <a:rPr lang="en-IN" sz="2400" b="1"/>
              <a:t>Entity Relationship Diagram</a:t>
            </a:r>
          </a:p>
        </p:txBody>
      </p:sp>
      <p:sp>
        <p:nvSpPr>
          <p:cNvPr id="3" name="Text Placeholder 2">
            <a:extLst>
              <a:ext uri="{FF2B5EF4-FFF2-40B4-BE49-F238E27FC236}">
                <a16:creationId xmlns:a16="http://schemas.microsoft.com/office/drawing/2014/main" id="{6CC707FA-3B3D-2234-3D47-B8C9B1DE76CF}"/>
              </a:ext>
            </a:extLst>
          </p:cNvPr>
          <p:cNvSpPr>
            <a:spLocks noGrp="1"/>
          </p:cNvSpPr>
          <p:nvPr>
            <p:ph type="body" idx="1"/>
          </p:nvPr>
        </p:nvSpPr>
        <p:spPr/>
        <p:txBody>
          <a:bodyPr/>
          <a:lstStyle/>
          <a:p>
            <a:pPr marL="88900" indent="0">
              <a:buNone/>
            </a:pPr>
            <a:endParaRPr lang="en-IN"/>
          </a:p>
        </p:txBody>
      </p:sp>
      <p:sp>
        <p:nvSpPr>
          <p:cNvPr id="4" name="Slide Number Placeholder 3">
            <a:extLst>
              <a:ext uri="{FF2B5EF4-FFF2-40B4-BE49-F238E27FC236}">
                <a16:creationId xmlns:a16="http://schemas.microsoft.com/office/drawing/2014/main" id="{AAE9E75C-DC6A-64F2-CD1E-0DFAE18AA8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7" name="Picture 6">
            <a:extLst>
              <a:ext uri="{FF2B5EF4-FFF2-40B4-BE49-F238E27FC236}">
                <a16:creationId xmlns:a16="http://schemas.microsoft.com/office/drawing/2014/main" id="{9FF46A12-5DE5-4332-099F-9297AB1FD82A}"/>
              </a:ext>
            </a:extLst>
          </p:cNvPr>
          <p:cNvPicPr>
            <a:picLocks noChangeAspect="1"/>
          </p:cNvPicPr>
          <p:nvPr/>
        </p:nvPicPr>
        <p:blipFill>
          <a:blip r:embed="rId2"/>
          <a:stretch>
            <a:fillRect/>
          </a:stretch>
        </p:blipFill>
        <p:spPr>
          <a:xfrm>
            <a:off x="169168" y="1161288"/>
            <a:ext cx="8773664" cy="5103345"/>
          </a:xfrm>
          <a:prstGeom prst="rect">
            <a:avLst/>
          </a:prstGeom>
        </p:spPr>
      </p:pic>
    </p:spTree>
    <p:extLst>
      <p:ext uri="{BB962C8B-B14F-4D97-AF65-F5344CB8AC3E}">
        <p14:creationId xmlns:p14="http://schemas.microsoft.com/office/powerpoint/2010/main" val="4089016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2C85-10EC-8E59-A35F-560439485C4F}"/>
              </a:ext>
            </a:extLst>
          </p:cNvPr>
          <p:cNvSpPr>
            <a:spLocks noGrp="1"/>
          </p:cNvSpPr>
          <p:nvPr>
            <p:ph type="title"/>
          </p:nvPr>
        </p:nvSpPr>
        <p:spPr/>
        <p:txBody>
          <a:bodyPr/>
          <a:lstStyle/>
          <a:p>
            <a:r>
              <a:rPr lang="en-IN" sz="1800" b="1" i="0">
                <a:effectLst/>
                <a:latin typeface="Times New Roman" panose="02020603050405020304" pitchFamily="18" charset="0"/>
                <a:cs typeface="Times New Roman" panose="02020603050405020304" pitchFamily="18" charset="0"/>
              </a:rPr>
              <a:t>Use Case Diagram</a:t>
            </a:r>
            <a:br>
              <a:rPr lang="en-IN" sz="1800" b="1" i="0">
                <a:effectLst/>
                <a:latin typeface="Times New Roman" panose="02020603050405020304" pitchFamily="18" charset="0"/>
                <a:cs typeface="Times New Roman" panose="02020603050405020304" pitchFamily="18" charset="0"/>
              </a:rPr>
            </a:br>
            <a:endParaRPr lang="en-IN" sz="1800"/>
          </a:p>
        </p:txBody>
      </p:sp>
      <p:sp>
        <p:nvSpPr>
          <p:cNvPr id="3" name="Text Placeholder 2">
            <a:extLst>
              <a:ext uri="{FF2B5EF4-FFF2-40B4-BE49-F238E27FC236}">
                <a16:creationId xmlns:a16="http://schemas.microsoft.com/office/drawing/2014/main" id="{0FB70A80-A61B-B5EE-1ACC-57D2A5B766B6}"/>
              </a:ext>
            </a:extLst>
          </p:cNvPr>
          <p:cNvSpPr>
            <a:spLocks noGrp="1"/>
          </p:cNvSpPr>
          <p:nvPr>
            <p:ph type="body" idx="1"/>
          </p:nvPr>
        </p:nvSpPr>
        <p:spPr/>
        <p:txBody>
          <a:bodyPr/>
          <a:lstStyle/>
          <a:p>
            <a:pPr marL="88900" indent="0">
              <a:buNone/>
            </a:pPr>
            <a:r>
              <a:rPr lang="en-IN" sz="180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719C29A6-7A1D-886E-03FE-096A2DE3EE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5" name="Picture 4" descr="A diagram of a network security system&#10;&#10;Description automatically generated">
            <a:extLst>
              <a:ext uri="{FF2B5EF4-FFF2-40B4-BE49-F238E27FC236}">
                <a16:creationId xmlns:a16="http://schemas.microsoft.com/office/drawing/2014/main" id="{C32068D4-8970-C0BC-1C4D-890DB71CA708}"/>
              </a:ext>
            </a:extLst>
          </p:cNvPr>
          <p:cNvPicPr>
            <a:picLocks noChangeAspect="1"/>
          </p:cNvPicPr>
          <p:nvPr/>
        </p:nvPicPr>
        <p:blipFill>
          <a:blip r:embed="rId2"/>
          <a:stretch>
            <a:fillRect/>
          </a:stretch>
        </p:blipFill>
        <p:spPr>
          <a:xfrm>
            <a:off x="1104900" y="1360170"/>
            <a:ext cx="6877050" cy="4556760"/>
          </a:xfrm>
          <a:prstGeom prst="rect">
            <a:avLst/>
          </a:prstGeom>
        </p:spPr>
      </p:pic>
    </p:spTree>
    <p:extLst>
      <p:ext uri="{BB962C8B-B14F-4D97-AF65-F5344CB8AC3E}">
        <p14:creationId xmlns:p14="http://schemas.microsoft.com/office/powerpoint/2010/main" val="347895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DB31-CB3D-B6C5-39D2-B927357087DB}"/>
              </a:ext>
            </a:extLst>
          </p:cNvPr>
          <p:cNvSpPr>
            <a:spLocks noGrp="1"/>
          </p:cNvSpPr>
          <p:nvPr>
            <p:ph type="title"/>
          </p:nvPr>
        </p:nvSpPr>
        <p:spPr/>
        <p:txBody>
          <a:bodyPr/>
          <a:lstStyle/>
          <a:p>
            <a:r>
              <a:rPr lang="en-IN" sz="1800" b="1" i="0">
                <a:effectLst/>
                <a:latin typeface="Times New Roman" panose="02020603050405020304" pitchFamily="18" charset="0"/>
                <a:cs typeface="Times New Roman" panose="02020603050405020304" pitchFamily="18" charset="0"/>
              </a:rPr>
              <a:t>Sequence Diagram</a:t>
            </a:r>
            <a:br>
              <a:rPr lang="en-IN" sz="1800">
                <a:latin typeface="Times New Roman" panose="02020603050405020304" pitchFamily="18" charset="0"/>
                <a:cs typeface="Times New Roman" panose="02020603050405020304" pitchFamily="18" charset="0"/>
              </a:rPr>
            </a:br>
            <a:endParaRPr lang="en-IN" sz="1800"/>
          </a:p>
        </p:txBody>
      </p:sp>
      <p:sp>
        <p:nvSpPr>
          <p:cNvPr id="3" name="Text Placeholder 2">
            <a:extLst>
              <a:ext uri="{FF2B5EF4-FFF2-40B4-BE49-F238E27FC236}">
                <a16:creationId xmlns:a16="http://schemas.microsoft.com/office/drawing/2014/main" id="{1DC6F944-A85B-CCC2-267B-2D6471B7D198}"/>
              </a:ext>
            </a:extLst>
          </p:cNvPr>
          <p:cNvSpPr>
            <a:spLocks noGrp="1"/>
          </p:cNvSpPr>
          <p:nvPr>
            <p:ph type="body" idx="1"/>
          </p:nvPr>
        </p:nvSpPr>
        <p:spPr>
          <a:xfrm>
            <a:off x="311700" y="1115568"/>
            <a:ext cx="8520600" cy="4976265"/>
          </a:xfrm>
        </p:spPr>
        <p:txBody>
          <a:bodyPr/>
          <a:lstStyle/>
          <a:p>
            <a:pPr marL="88900" indent="0">
              <a:buNone/>
            </a:pPr>
            <a:r>
              <a:rPr lang="en-IN" sz="180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2B363E97-31CE-7457-9E22-698AEC4308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6" name="Picture 5">
            <a:extLst>
              <a:ext uri="{FF2B5EF4-FFF2-40B4-BE49-F238E27FC236}">
                <a16:creationId xmlns:a16="http://schemas.microsoft.com/office/drawing/2014/main" id="{26D9C422-7F9F-96D1-A026-F62AF72FC637}"/>
              </a:ext>
            </a:extLst>
          </p:cNvPr>
          <p:cNvPicPr>
            <a:picLocks noChangeAspect="1"/>
          </p:cNvPicPr>
          <p:nvPr/>
        </p:nvPicPr>
        <p:blipFill>
          <a:blip r:embed="rId2"/>
          <a:stretch>
            <a:fillRect/>
          </a:stretch>
        </p:blipFill>
        <p:spPr>
          <a:xfrm>
            <a:off x="0" y="1356868"/>
            <a:ext cx="9144000" cy="4798168"/>
          </a:xfrm>
          <a:prstGeom prst="rect">
            <a:avLst/>
          </a:prstGeom>
        </p:spPr>
      </p:pic>
    </p:spTree>
    <p:extLst>
      <p:ext uri="{BB962C8B-B14F-4D97-AF65-F5344CB8AC3E}">
        <p14:creationId xmlns:p14="http://schemas.microsoft.com/office/powerpoint/2010/main" val="190568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5226-23CD-7220-B04E-AB5751E2183F}"/>
              </a:ext>
            </a:extLst>
          </p:cNvPr>
          <p:cNvSpPr>
            <a:spLocks noGrp="1"/>
          </p:cNvSpPr>
          <p:nvPr>
            <p:ph type="title"/>
          </p:nvPr>
        </p:nvSpPr>
        <p:spPr/>
        <p:txBody>
          <a:bodyPr/>
          <a:lstStyle/>
          <a:p>
            <a:r>
              <a:rPr lang="en-IN" sz="2800" b="1"/>
              <a:t>Class Diagram</a:t>
            </a:r>
          </a:p>
        </p:txBody>
      </p:sp>
      <p:sp>
        <p:nvSpPr>
          <p:cNvPr id="3" name="Text Placeholder 2">
            <a:extLst>
              <a:ext uri="{FF2B5EF4-FFF2-40B4-BE49-F238E27FC236}">
                <a16:creationId xmlns:a16="http://schemas.microsoft.com/office/drawing/2014/main" id="{2DA7AB06-A924-FCB0-7FBE-B5F8150B582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B7F9E9-B003-1B60-D09E-89834C297C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6" name="Picture 5">
            <a:extLst>
              <a:ext uri="{FF2B5EF4-FFF2-40B4-BE49-F238E27FC236}">
                <a16:creationId xmlns:a16="http://schemas.microsoft.com/office/drawing/2014/main" id="{86DFDF81-71DB-D6B9-6215-973175FEFE26}"/>
              </a:ext>
            </a:extLst>
          </p:cNvPr>
          <p:cNvPicPr>
            <a:picLocks noChangeAspect="1"/>
          </p:cNvPicPr>
          <p:nvPr/>
        </p:nvPicPr>
        <p:blipFill>
          <a:blip r:embed="rId2"/>
          <a:stretch>
            <a:fillRect/>
          </a:stretch>
        </p:blipFill>
        <p:spPr>
          <a:xfrm>
            <a:off x="0" y="1104899"/>
            <a:ext cx="9144000" cy="5159733"/>
          </a:xfrm>
          <a:prstGeom prst="rect">
            <a:avLst/>
          </a:prstGeom>
        </p:spPr>
      </p:pic>
    </p:spTree>
    <p:extLst>
      <p:ext uri="{BB962C8B-B14F-4D97-AF65-F5344CB8AC3E}">
        <p14:creationId xmlns:p14="http://schemas.microsoft.com/office/powerpoint/2010/main" val="362833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F756-03A4-F8C0-A113-1486113D2757}"/>
              </a:ext>
            </a:extLst>
          </p:cNvPr>
          <p:cNvSpPr>
            <a:spLocks noGrp="1"/>
          </p:cNvSpPr>
          <p:nvPr>
            <p:ph type="title"/>
          </p:nvPr>
        </p:nvSpPr>
        <p:spPr/>
        <p:txBody>
          <a:bodyPr/>
          <a:lstStyle/>
          <a:p>
            <a:r>
              <a:rPr lang="en-IN" sz="2800" b="1"/>
              <a:t>Plan of Work</a:t>
            </a:r>
          </a:p>
        </p:txBody>
      </p:sp>
      <p:sp>
        <p:nvSpPr>
          <p:cNvPr id="3" name="Text Placeholder 2">
            <a:extLst>
              <a:ext uri="{FF2B5EF4-FFF2-40B4-BE49-F238E27FC236}">
                <a16:creationId xmlns:a16="http://schemas.microsoft.com/office/drawing/2014/main" id="{432AB050-6DAD-9E8A-8A9C-79B328F3CC26}"/>
              </a:ext>
            </a:extLst>
          </p:cNvPr>
          <p:cNvSpPr>
            <a:spLocks noGrp="1"/>
          </p:cNvSpPr>
          <p:nvPr>
            <p:ph type="body" idx="1"/>
          </p:nvPr>
        </p:nvSpPr>
        <p:spPr/>
        <p:txBody>
          <a:bodyPr/>
          <a:lstStyle/>
          <a:p>
            <a:pPr marL="88900" indent="0">
              <a:buNone/>
            </a:pPr>
            <a:r>
              <a:rPr lang="en-US" sz="1800" b="1"/>
              <a:t>Methodology:</a:t>
            </a:r>
          </a:p>
          <a:p>
            <a:pPr marL="88900" indent="0">
              <a:buNone/>
            </a:pPr>
            <a:endParaRPr lang="en-US"/>
          </a:p>
          <a:p>
            <a:pPr>
              <a:buFont typeface="Arial" panose="020B0604020202020204" pitchFamily="34" charset="0"/>
              <a:buChar char="•"/>
            </a:pPr>
            <a:r>
              <a:rPr lang="en-US" sz="1600" b="1"/>
              <a:t>Data Gathering</a:t>
            </a:r>
            <a:r>
              <a:rPr lang="en-US" sz="1600"/>
              <a:t>: Capture network traffic and analyze logs.</a:t>
            </a:r>
          </a:p>
          <a:p>
            <a:pPr>
              <a:buFont typeface="Arial" panose="020B0604020202020204" pitchFamily="34" charset="0"/>
              <a:buChar char="•"/>
            </a:pPr>
            <a:r>
              <a:rPr lang="en-US" sz="1600" b="1"/>
              <a:t>Feature Extraction</a:t>
            </a:r>
            <a:r>
              <a:rPr lang="en-US" sz="1600"/>
              <a:t>: Process collected data to identify critical features for machine learning.</a:t>
            </a:r>
          </a:p>
          <a:p>
            <a:pPr>
              <a:buFont typeface="Arial" panose="020B0604020202020204" pitchFamily="34" charset="0"/>
              <a:buChar char="•"/>
            </a:pPr>
            <a:r>
              <a:rPr lang="en-US" sz="1600" b="1"/>
              <a:t>Model Development</a:t>
            </a:r>
            <a:r>
              <a:rPr lang="en-US" sz="1600"/>
              <a:t>: Implement ML algorithms, including RNNs and clustering techniques.</a:t>
            </a:r>
          </a:p>
          <a:p>
            <a:pPr>
              <a:buFont typeface="Arial" panose="020B0604020202020204" pitchFamily="34" charset="0"/>
              <a:buChar char="•"/>
            </a:pPr>
            <a:r>
              <a:rPr lang="en-US" sz="1600" b="1"/>
              <a:t>Testing and Validation</a:t>
            </a:r>
            <a:r>
              <a:rPr lang="en-US" sz="1600"/>
              <a:t>: Simulate various attack scenarios to test system effectiveness.</a:t>
            </a:r>
          </a:p>
          <a:p>
            <a:pPr>
              <a:buFont typeface="Arial" panose="020B0604020202020204" pitchFamily="34" charset="0"/>
              <a:buChar char="•"/>
            </a:pPr>
            <a:r>
              <a:rPr lang="en-US" sz="1600" b="1"/>
              <a:t>Deployment</a:t>
            </a:r>
            <a:r>
              <a:rPr lang="en-US" sz="1600"/>
              <a:t>: Implement the IDS in the network infrastructure with user training.</a:t>
            </a:r>
          </a:p>
          <a:p>
            <a:pPr>
              <a:buFont typeface="+mj-lt"/>
              <a:buAutoNum type="arabicPeriod"/>
            </a:pPr>
            <a:endParaRPr lang="en-US" sz="1600"/>
          </a:p>
          <a:p>
            <a:pPr marL="88900" indent="0">
              <a:buNone/>
            </a:pPr>
            <a:endParaRPr lang="en-IN"/>
          </a:p>
        </p:txBody>
      </p:sp>
      <p:sp>
        <p:nvSpPr>
          <p:cNvPr id="4" name="Slide Number Placeholder 3">
            <a:extLst>
              <a:ext uri="{FF2B5EF4-FFF2-40B4-BE49-F238E27FC236}">
                <a16:creationId xmlns:a16="http://schemas.microsoft.com/office/drawing/2014/main" id="{9A61141C-DFE6-FEC1-2C3C-2FB395195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354535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045B-39CD-9C4B-D3FC-E1FDDFE088C9}"/>
              </a:ext>
            </a:extLst>
          </p:cNvPr>
          <p:cNvSpPr>
            <a:spLocks noGrp="1"/>
          </p:cNvSpPr>
          <p:nvPr>
            <p:ph type="title"/>
          </p:nvPr>
        </p:nvSpPr>
        <p:spPr/>
        <p:txBody>
          <a:bodyPr/>
          <a:lstStyle/>
          <a:p>
            <a:r>
              <a:rPr lang="en-US" sz="1400" b="1"/>
              <a:t>Timeline</a:t>
            </a:r>
            <a:br>
              <a:rPr lang="en-US" sz="1400" b="1"/>
            </a:br>
            <a:endParaRPr lang="en-IN"/>
          </a:p>
        </p:txBody>
      </p:sp>
      <p:sp>
        <p:nvSpPr>
          <p:cNvPr id="3" name="Text Placeholder 2">
            <a:extLst>
              <a:ext uri="{FF2B5EF4-FFF2-40B4-BE49-F238E27FC236}">
                <a16:creationId xmlns:a16="http://schemas.microsoft.com/office/drawing/2014/main" id="{139C8610-0648-F35C-7DAD-4226D5E861A3}"/>
              </a:ext>
            </a:extLst>
          </p:cNvPr>
          <p:cNvSpPr>
            <a:spLocks noGrp="1"/>
          </p:cNvSpPr>
          <p:nvPr>
            <p:ph type="body" idx="1"/>
          </p:nvPr>
        </p:nvSpPr>
        <p:spPr/>
        <p:txBody>
          <a:bodyPr/>
          <a:lstStyle/>
          <a:p>
            <a:pPr marL="88900" indent="0">
              <a:buNone/>
            </a:pPr>
            <a:endParaRPr lang="en-US" sz="1600"/>
          </a:p>
          <a:p>
            <a:pPr marL="88900" indent="0">
              <a:buNone/>
            </a:pPr>
            <a:endParaRPr lang="en-IN"/>
          </a:p>
        </p:txBody>
      </p:sp>
      <p:sp>
        <p:nvSpPr>
          <p:cNvPr id="4" name="Slide Number Placeholder 3">
            <a:extLst>
              <a:ext uri="{FF2B5EF4-FFF2-40B4-BE49-F238E27FC236}">
                <a16:creationId xmlns:a16="http://schemas.microsoft.com/office/drawing/2014/main" id="{858E5524-FABF-1D2B-FA76-EC10E7F935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5" name="Table 4">
            <a:extLst>
              <a:ext uri="{FF2B5EF4-FFF2-40B4-BE49-F238E27FC236}">
                <a16:creationId xmlns:a16="http://schemas.microsoft.com/office/drawing/2014/main" id="{E8424B0C-C19A-932B-310A-00BF8CD191EB}"/>
              </a:ext>
            </a:extLst>
          </p:cNvPr>
          <p:cNvGraphicFramePr>
            <a:graphicFrameLocks noGrp="1"/>
          </p:cNvGraphicFramePr>
          <p:nvPr>
            <p:extLst>
              <p:ext uri="{D42A27DB-BD31-4B8C-83A1-F6EECF244321}">
                <p14:modId xmlns:p14="http://schemas.microsoft.com/office/powerpoint/2010/main" val="1510874973"/>
              </p:ext>
            </p:extLst>
          </p:nvPr>
        </p:nvGraphicFramePr>
        <p:xfrm>
          <a:off x="407797" y="975117"/>
          <a:ext cx="8365956" cy="5241758"/>
        </p:xfrm>
        <a:graphic>
          <a:graphicData uri="http://schemas.openxmlformats.org/drawingml/2006/table">
            <a:tbl>
              <a:tblPr/>
              <a:tblGrid>
                <a:gridCol w="972947">
                  <a:extLst>
                    <a:ext uri="{9D8B030D-6E8A-4147-A177-3AD203B41FA5}">
                      <a16:colId xmlns:a16="http://schemas.microsoft.com/office/drawing/2014/main" val="50574611"/>
                    </a:ext>
                  </a:extLst>
                </a:gridCol>
                <a:gridCol w="2020824">
                  <a:extLst>
                    <a:ext uri="{9D8B030D-6E8A-4147-A177-3AD203B41FA5}">
                      <a16:colId xmlns:a16="http://schemas.microsoft.com/office/drawing/2014/main" val="1092755968"/>
                    </a:ext>
                  </a:extLst>
                </a:gridCol>
                <a:gridCol w="1298448">
                  <a:extLst>
                    <a:ext uri="{9D8B030D-6E8A-4147-A177-3AD203B41FA5}">
                      <a16:colId xmlns:a16="http://schemas.microsoft.com/office/drawing/2014/main" val="3470671616"/>
                    </a:ext>
                  </a:extLst>
                </a:gridCol>
                <a:gridCol w="4073737">
                  <a:extLst>
                    <a:ext uri="{9D8B030D-6E8A-4147-A177-3AD203B41FA5}">
                      <a16:colId xmlns:a16="http://schemas.microsoft.com/office/drawing/2014/main" val="823819301"/>
                    </a:ext>
                  </a:extLst>
                </a:gridCol>
              </a:tblGrid>
              <a:tr h="211132">
                <a:tc>
                  <a:txBody>
                    <a:bodyPr/>
                    <a:lstStyle/>
                    <a:p>
                      <a:r>
                        <a:rPr lang="en-IN" sz="1000" b="1"/>
                        <a:t>Month</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b="1"/>
                        <a:t>Activity</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b="1"/>
                        <a:t>Weeks</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b="1"/>
                        <a:t>Tasks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376171020"/>
                  </a:ext>
                </a:extLst>
              </a:tr>
              <a:tr h="288518">
                <a:tc>
                  <a:txBody>
                    <a:bodyPr/>
                    <a:lstStyle/>
                    <a:p>
                      <a:r>
                        <a:rPr lang="en-IN" sz="1000"/>
                        <a:t>Month 1</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Project Initiation and Planning</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Weeks 1-2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Identify project scope, objectives, and deliverables.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057919827"/>
                  </a:ext>
                </a:extLst>
              </a:tr>
              <a:tr h="288518">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Conduct literature review and gather relevant works.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807483175"/>
                  </a:ext>
                </a:extLst>
              </a:tr>
              <a:tr h="211132">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4</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Finalize project proposal and outline SRS.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66995951"/>
                  </a:ext>
                </a:extLst>
              </a:tr>
              <a:tr h="383810">
                <a:tc>
                  <a:txBody>
                    <a:bodyPr/>
                    <a:lstStyle/>
                    <a:p>
                      <a:r>
                        <a:rPr lang="en-IN" sz="1000"/>
                        <a:t>Month 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SRS Development and Review</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Weeks 1-2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Draft initial SRS document (functional and non-functional requirements).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909728348"/>
                  </a:ext>
                </a:extLst>
              </a:tr>
              <a:tr h="383810">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Review and edit SRS based on guides’ comments.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509278595"/>
                  </a:ext>
                </a:extLst>
              </a:tr>
              <a:tr h="211132">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4</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Finalize SRS document.</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612444426"/>
                  </a:ext>
                </a:extLst>
              </a:tr>
              <a:tr h="383810">
                <a:tc>
                  <a:txBody>
                    <a:bodyPr/>
                    <a:lstStyle/>
                    <a:p>
                      <a:r>
                        <a:rPr lang="en-IN" sz="1000"/>
                        <a:t>Month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System Design and Component Specification</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Weeks 1-2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Develop system architecture and create design diagrams with UI.</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398535399"/>
                  </a:ext>
                </a:extLst>
              </a:tr>
              <a:tr h="383810">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Create detailed component-level design specifications.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448910293"/>
                  </a:ext>
                </a:extLst>
              </a:tr>
              <a:tr h="288518">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4</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Conduct design review with guide for signoff.</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19749151"/>
                  </a:ext>
                </a:extLst>
              </a:tr>
              <a:tr h="383810">
                <a:tc>
                  <a:txBody>
                    <a:bodyPr/>
                    <a:lstStyle/>
                    <a:p>
                      <a:r>
                        <a:rPr lang="en-IN" sz="1000"/>
                        <a:t>Month 4</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Initial Coding, ML Implementation, and Testing</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Weeks 1-2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Begin coding core IDS functionalities.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29663493"/>
                  </a:ext>
                </a:extLst>
              </a:tr>
              <a:tr h="288518">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Implement ML algorithms for anomaly detection.</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172472790"/>
                  </a:ext>
                </a:extLst>
              </a:tr>
              <a:tr h="383810">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4</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Integrate networking components and conduct initial testing.</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689915673"/>
                  </a:ext>
                </a:extLst>
              </a:tr>
              <a:tr h="383810">
                <a:tc>
                  <a:txBody>
                    <a:bodyPr/>
                    <a:lstStyle/>
                    <a:p>
                      <a:r>
                        <a:rPr lang="en-IN" sz="1000"/>
                        <a:t>Month 5</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System Testing, Documentation, and Deployment</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1</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Perform unit, integration, and system testing.</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717821609"/>
                  </a:ext>
                </a:extLst>
              </a:tr>
              <a:tr h="383810">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2</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Conduct user acceptance testing (UAT) with guides.</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378511707"/>
                  </a:ext>
                </a:extLst>
              </a:tr>
              <a:tr h="383810">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endParaRPr lang="en-IN" sz="1000"/>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IN" sz="1000"/>
                        <a:t>Week 3</a:t>
                      </a:r>
                    </a:p>
                  </a:txBody>
                  <a:tcPr marL="37332" marR="37332" marT="18666" marB="18666" anchor="ctr">
                    <a:lnL>
                      <a:noFill/>
                    </a:lnL>
                    <a:lnR>
                      <a:noFill/>
                    </a:lnR>
                    <a:lnT>
                      <a:noFill/>
                    </a:lnT>
                    <a:lnB>
                      <a:noFill/>
                    </a:lnB>
                    <a:solidFill>
                      <a:schemeClr val="accent3">
                        <a:lumMod val="20000"/>
                        <a:lumOff val="80000"/>
                      </a:schemeClr>
                    </a:solidFill>
                  </a:tcPr>
                </a:tc>
                <a:tc>
                  <a:txBody>
                    <a:bodyPr/>
                    <a:lstStyle/>
                    <a:p>
                      <a:r>
                        <a:rPr lang="en-US" sz="1000"/>
                        <a:t>Finalize documentation and prepare deployment strategy.</a:t>
                      </a:r>
                    </a:p>
                  </a:txBody>
                  <a:tcPr marL="37332" marR="37332" marT="18666" marB="18666"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867636073"/>
                  </a:ext>
                </a:extLst>
              </a:tr>
            </a:tbl>
          </a:graphicData>
        </a:graphic>
      </p:graphicFrame>
    </p:spTree>
    <p:extLst>
      <p:ext uri="{BB962C8B-B14F-4D97-AF65-F5344CB8AC3E}">
        <p14:creationId xmlns:p14="http://schemas.microsoft.com/office/powerpoint/2010/main" val="2612972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3873-0998-F8EB-E241-D726C5CB5CCC}"/>
              </a:ext>
            </a:extLst>
          </p:cNvPr>
          <p:cNvSpPr>
            <a:spLocks noGrp="1"/>
          </p:cNvSpPr>
          <p:nvPr>
            <p:ph type="title"/>
          </p:nvPr>
        </p:nvSpPr>
        <p:spPr/>
        <p:txBody>
          <a:bodyPr/>
          <a:lstStyle/>
          <a:p>
            <a:r>
              <a:rPr lang="en-IN" sz="2800" b="1"/>
              <a:t>Anticipated Outcomes</a:t>
            </a:r>
          </a:p>
        </p:txBody>
      </p:sp>
      <p:sp>
        <p:nvSpPr>
          <p:cNvPr id="4" name="Slide Number Placeholder 3">
            <a:extLst>
              <a:ext uri="{FF2B5EF4-FFF2-40B4-BE49-F238E27FC236}">
                <a16:creationId xmlns:a16="http://schemas.microsoft.com/office/drawing/2014/main" id="{6240FFBB-2359-057E-1404-8F7ADE0CD7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6" name="Rectangle 2">
            <a:extLst>
              <a:ext uri="{FF2B5EF4-FFF2-40B4-BE49-F238E27FC236}">
                <a16:creationId xmlns:a16="http://schemas.microsoft.com/office/drawing/2014/main" id="{C479CB5A-27BA-B17A-2396-40A155ED746B}"/>
              </a:ext>
            </a:extLst>
          </p:cNvPr>
          <p:cNvSpPr>
            <a:spLocks noGrp="1" noChangeArrowheads="1"/>
          </p:cNvSpPr>
          <p:nvPr>
            <p:ph type="body" idx="1"/>
          </p:nvPr>
        </p:nvSpPr>
        <p:spPr bwMode="auto">
          <a:xfrm>
            <a:off x="311700" y="1485550"/>
            <a:ext cx="85206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sz="1600" b="1"/>
              <a:t>Security Enhancement: </a:t>
            </a:r>
            <a:r>
              <a:rPr lang="en-US" sz="1600"/>
              <a:t>Strengthens network defenses with real-time, accurate threat detection and response.</a:t>
            </a:r>
          </a:p>
          <a:p>
            <a:pPr marL="88900" indent="0">
              <a:buNone/>
            </a:pPr>
            <a:endParaRPr lang="en-US" sz="1600"/>
          </a:p>
          <a:p>
            <a:pPr>
              <a:buFont typeface="Arial" panose="020B0604020202020204" pitchFamily="34" charset="0"/>
              <a:buChar char="•"/>
            </a:pPr>
            <a:r>
              <a:rPr lang="en-US" sz="1600" b="1"/>
              <a:t>Administrator Efficiency: </a:t>
            </a:r>
            <a:r>
              <a:rPr lang="en-US" sz="1600"/>
              <a:t>Simplifies the management of security incidents with an intuitive interface and actionable insights.</a:t>
            </a:r>
          </a:p>
          <a:p>
            <a:pPr marL="88900" indent="0">
              <a:buNone/>
            </a:pPr>
            <a:endParaRPr lang="en-US" sz="1600"/>
          </a:p>
          <a:p>
            <a:pPr>
              <a:buFont typeface="Arial" panose="020B0604020202020204" pitchFamily="34" charset="0"/>
              <a:buChar char="•"/>
            </a:pPr>
            <a:r>
              <a:rPr lang="en-US" sz="1600" b="1"/>
              <a:t>Long-Term Usability: </a:t>
            </a:r>
            <a:r>
              <a:rPr lang="en-US" sz="1600"/>
              <a:t>Detailed documentation ensures the system is maintainable and usable for extended periods.</a:t>
            </a:r>
          </a:p>
          <a:p>
            <a:pPr marL="88900" indent="0">
              <a:buNone/>
            </a:pPr>
            <a:endParaRPr lang="en-US" sz="1600"/>
          </a:p>
          <a:p>
            <a:pPr>
              <a:buFont typeface="Arial" panose="020B0604020202020204" pitchFamily="34" charset="0"/>
              <a:buChar char="•"/>
            </a:pPr>
            <a:r>
              <a:rPr lang="en-US" sz="1600" b="1"/>
              <a:t>Proactive Adaptation</a:t>
            </a:r>
            <a:r>
              <a:rPr lang="en-US" sz="1600"/>
              <a:t>: Leverages machine learning to stay ahead of evolving threats, reducing vulnerabilities.</a:t>
            </a:r>
          </a:p>
        </p:txBody>
      </p:sp>
    </p:spTree>
    <p:extLst>
      <p:ext uri="{BB962C8B-B14F-4D97-AF65-F5344CB8AC3E}">
        <p14:creationId xmlns:p14="http://schemas.microsoft.com/office/powerpoint/2010/main" val="3554326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3873-0998-F8EB-E241-D726C5CB5CCC}"/>
              </a:ext>
            </a:extLst>
          </p:cNvPr>
          <p:cNvSpPr>
            <a:spLocks noGrp="1"/>
          </p:cNvSpPr>
          <p:nvPr>
            <p:ph type="title"/>
          </p:nvPr>
        </p:nvSpPr>
        <p:spPr/>
        <p:txBody>
          <a:bodyPr/>
          <a:lstStyle/>
          <a:p>
            <a:r>
              <a:rPr lang="en-IN" sz="2800" b="1"/>
              <a:t>User Interface </a:t>
            </a:r>
          </a:p>
        </p:txBody>
      </p:sp>
      <p:sp>
        <p:nvSpPr>
          <p:cNvPr id="4" name="Slide Number Placeholder 3">
            <a:extLst>
              <a:ext uri="{FF2B5EF4-FFF2-40B4-BE49-F238E27FC236}">
                <a16:creationId xmlns:a16="http://schemas.microsoft.com/office/drawing/2014/main" id="{6240FFBB-2359-057E-1404-8F7ADE0CD7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3" name="Picture 2" descr="A screenshot of a computer&#10;&#10;Description automatically generated">
            <a:extLst>
              <a:ext uri="{FF2B5EF4-FFF2-40B4-BE49-F238E27FC236}">
                <a16:creationId xmlns:a16="http://schemas.microsoft.com/office/drawing/2014/main" id="{C3C5D4FE-DF7B-1832-7494-89B5BE20A277}"/>
              </a:ext>
            </a:extLst>
          </p:cNvPr>
          <p:cNvPicPr>
            <a:picLocks noChangeAspect="1"/>
          </p:cNvPicPr>
          <p:nvPr/>
        </p:nvPicPr>
        <p:blipFill>
          <a:blip r:embed="rId2"/>
          <a:stretch>
            <a:fillRect/>
          </a:stretch>
        </p:blipFill>
        <p:spPr>
          <a:xfrm>
            <a:off x="311728" y="1490472"/>
            <a:ext cx="8520544" cy="4602995"/>
          </a:xfrm>
          <a:prstGeom prst="rect">
            <a:avLst/>
          </a:prstGeom>
        </p:spPr>
      </p:pic>
    </p:spTree>
    <p:extLst>
      <p:ext uri="{BB962C8B-B14F-4D97-AF65-F5344CB8AC3E}">
        <p14:creationId xmlns:p14="http://schemas.microsoft.com/office/powerpoint/2010/main" val="949746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B58DA-196A-D422-AD47-72B5AA996864}"/>
              </a:ext>
            </a:extLst>
          </p:cNvPr>
          <p:cNvSpPr>
            <a:spLocks noGrp="1"/>
          </p:cNvSpPr>
          <p:nvPr>
            <p:ph type="title"/>
          </p:nvPr>
        </p:nvSpPr>
        <p:spPr/>
        <p:txBody>
          <a:bodyPr/>
          <a:lstStyle/>
          <a:p>
            <a:r>
              <a:rPr lang="en-US" sz="2800" b="1"/>
              <a:t>Conclusion</a:t>
            </a:r>
          </a:p>
        </p:txBody>
      </p:sp>
      <p:sp>
        <p:nvSpPr>
          <p:cNvPr id="3" name="Text Placeholder 2">
            <a:extLst>
              <a:ext uri="{FF2B5EF4-FFF2-40B4-BE49-F238E27FC236}">
                <a16:creationId xmlns:a16="http://schemas.microsoft.com/office/drawing/2014/main" id="{B1A5B059-2393-7308-4E49-6101A14DDFD9}"/>
              </a:ext>
            </a:extLst>
          </p:cNvPr>
          <p:cNvSpPr>
            <a:spLocks noGrp="1"/>
          </p:cNvSpPr>
          <p:nvPr>
            <p:ph type="body" idx="1"/>
          </p:nvPr>
        </p:nvSpPr>
        <p:spPr>
          <a:xfrm>
            <a:off x="311700" y="1355658"/>
            <a:ext cx="8520600" cy="4555200"/>
          </a:xfrm>
        </p:spPr>
        <p:txBody>
          <a:bodyPr/>
          <a:lstStyle/>
          <a:p>
            <a:pPr>
              <a:buNone/>
            </a:pPr>
            <a:r>
              <a:rPr lang="en-US" sz="1600" b="1">
                <a:solidFill>
                  <a:schemeClr val="tx1"/>
                </a:solidFill>
              </a:rPr>
              <a:t>The Need for a Modern IDS:</a:t>
            </a:r>
            <a:r>
              <a:rPr lang="en-US" sz="1600">
                <a:solidFill>
                  <a:schemeClr val="tx1"/>
                </a:solidFill>
              </a:rPr>
              <a:t> The rise in sophisticated cyber threats necessitates the development of a robust and adaptable Intrusion Detection System (IDS). This is particularly important as traditional security solutions struggle to keep up with the complexity and volume of modern attacks.</a:t>
            </a:r>
          </a:p>
          <a:p>
            <a:pPr>
              <a:buNone/>
            </a:pPr>
            <a:r>
              <a:rPr lang="en-US" sz="1600" b="1">
                <a:solidFill>
                  <a:schemeClr val="tx1"/>
                </a:solidFill>
              </a:rPr>
              <a:t>Combining Strengths</a:t>
            </a:r>
            <a:r>
              <a:rPr lang="en-US" sz="1600">
                <a:solidFill>
                  <a:schemeClr val="tx1"/>
                </a:solidFill>
              </a:rPr>
              <a:t>: A hybrid approach combining signature-based and anomaly-based detection techniques is proposed as the most effective way to address a wide range of threats. This approach leverages the accuracy of signature-based detection for known attacks and the adaptability of anomaly-based detection for identifying new and evolving threats.</a:t>
            </a:r>
          </a:p>
          <a:p>
            <a:pPr>
              <a:buNone/>
            </a:pPr>
            <a:r>
              <a:rPr lang="en-US" sz="1600" b="1">
                <a:solidFill>
                  <a:schemeClr val="tx1"/>
                </a:solidFill>
              </a:rPr>
              <a:t>Machine Learning's Role</a:t>
            </a:r>
            <a:r>
              <a:rPr lang="en-US" sz="1600">
                <a:solidFill>
                  <a:schemeClr val="tx1"/>
                </a:solidFill>
              </a:rPr>
              <a:t>: Machine learning algorithms are central to enhancing the IDS's detection capabilities and enabling it to adapt to changing attack patterns. By learning from data, these algorithms can identify subtle anomalies and predict future attacks, significantly improving the system's effectiveness.</a:t>
            </a:r>
          </a:p>
          <a:p>
            <a:pPr>
              <a:buNone/>
            </a:pPr>
            <a:r>
              <a:rPr lang="en-US" sz="1600" b="1">
                <a:solidFill>
                  <a:schemeClr val="tx1"/>
                </a:solidFill>
              </a:rPr>
              <a:t>Feasibility and Resources</a:t>
            </a:r>
            <a:r>
              <a:rPr lang="en-US" sz="1600">
                <a:solidFill>
                  <a:schemeClr val="tx1"/>
                </a:solidFill>
              </a:rPr>
              <a:t>: The conclusion emphasizes that the project is technically feasible, with available technologies and resources sufficient for developing a sophisticated IDS. This includes high-performance hardware, open-source software tools like Snort  and appropriate programming languages and machine learning libraries.</a:t>
            </a:r>
          </a:p>
          <a:p>
            <a:pPr>
              <a:buNone/>
            </a:pPr>
            <a:r>
              <a:rPr lang="en-US" sz="1600" b="1">
                <a:solidFill>
                  <a:schemeClr val="tx1"/>
                </a:solidFill>
              </a:rPr>
              <a:t>Project Impact</a:t>
            </a:r>
            <a:r>
              <a:rPr lang="en-US" sz="1600">
                <a:solidFill>
                  <a:schemeClr val="tx1"/>
                </a:solidFill>
              </a:rPr>
              <a:t>: The project aims to significantly strengthen network security by providing a real-time intrusion detection system with enhanced accuracy and adaptability. The research findings are also expected to contribute to broader advancements in intrusion detection technologies, benefitting both academic and industry applications.</a:t>
            </a:r>
          </a:p>
          <a:p>
            <a:pPr marL="88900" indent="0">
              <a:buNone/>
            </a:pPr>
            <a:endParaRPr lang="en-US" sz="1600">
              <a:solidFill>
                <a:schemeClr val="tx1"/>
              </a:solidFill>
            </a:endParaRPr>
          </a:p>
        </p:txBody>
      </p:sp>
      <p:sp>
        <p:nvSpPr>
          <p:cNvPr id="4" name="Slide Number Placeholder 3">
            <a:extLst>
              <a:ext uri="{FF2B5EF4-FFF2-40B4-BE49-F238E27FC236}">
                <a16:creationId xmlns:a16="http://schemas.microsoft.com/office/drawing/2014/main" id="{B4BE132A-8E35-54F6-36FF-D1EBCE8C55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28</a:t>
            </a:fld>
            <a:endParaRPr lang="en-US"/>
          </a:p>
        </p:txBody>
      </p:sp>
    </p:spTree>
    <p:extLst>
      <p:ext uri="{BB962C8B-B14F-4D97-AF65-F5344CB8AC3E}">
        <p14:creationId xmlns:p14="http://schemas.microsoft.com/office/powerpoint/2010/main" val="2949184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07BD-CD98-7245-361E-EB25C7A90944}"/>
              </a:ext>
            </a:extLst>
          </p:cNvPr>
          <p:cNvSpPr>
            <a:spLocks noGrp="1"/>
          </p:cNvSpPr>
          <p:nvPr>
            <p:ph type="title"/>
          </p:nvPr>
        </p:nvSpPr>
        <p:spPr/>
        <p:txBody>
          <a:bodyPr/>
          <a:lstStyle/>
          <a:p>
            <a:r>
              <a:rPr lang="en-IN" sz="2800" b="1"/>
              <a:t>References</a:t>
            </a:r>
          </a:p>
        </p:txBody>
      </p:sp>
      <p:sp>
        <p:nvSpPr>
          <p:cNvPr id="3" name="Text Placeholder 2">
            <a:extLst>
              <a:ext uri="{FF2B5EF4-FFF2-40B4-BE49-F238E27FC236}">
                <a16:creationId xmlns:a16="http://schemas.microsoft.com/office/drawing/2014/main" id="{149A3E07-60C7-E2BB-08B5-2D53B05296BC}"/>
              </a:ext>
            </a:extLst>
          </p:cNvPr>
          <p:cNvSpPr>
            <a:spLocks noGrp="1"/>
          </p:cNvSpPr>
          <p:nvPr>
            <p:ph type="body" idx="1"/>
          </p:nvPr>
        </p:nvSpPr>
        <p:spPr/>
        <p:txBody>
          <a:bodyPr/>
          <a:lstStyle/>
          <a:p>
            <a:pPr>
              <a:buFont typeface="Arial" panose="020B0604020202020204" pitchFamily="34" charset="0"/>
              <a:buChar char="•"/>
            </a:pPr>
            <a:r>
              <a:rPr lang="en-IN" sz="1600"/>
              <a:t>[1] </a:t>
            </a:r>
            <a:r>
              <a:rPr lang="en-IN" sz="1600" err="1"/>
              <a:t>Patcha</a:t>
            </a:r>
            <a:r>
              <a:rPr lang="en-IN" sz="1600"/>
              <a:t>, A., &amp; Park, J. M. (2007). An overview of anomaly detection techniques: Existing solutions and latest technological trends. Computer Networks, 51(12), 3448–3470. https://doi.org/10.1016/j.comnet.2007.02.001 </a:t>
            </a:r>
          </a:p>
          <a:p>
            <a:pPr>
              <a:buFont typeface="Arial" panose="020B0604020202020204" pitchFamily="34" charset="0"/>
              <a:buChar char="•"/>
            </a:pPr>
            <a:r>
              <a:rPr lang="en-IN" sz="1600"/>
              <a:t>[2] Koc, L., </a:t>
            </a:r>
            <a:r>
              <a:rPr lang="en-IN" sz="1600" err="1"/>
              <a:t>Mazzuchi</a:t>
            </a:r>
            <a:r>
              <a:rPr lang="en-IN" sz="1600"/>
              <a:t>, T. A., &amp; </a:t>
            </a:r>
            <a:r>
              <a:rPr lang="en-IN" sz="1600" err="1"/>
              <a:t>Sarkani</a:t>
            </a:r>
            <a:r>
              <a:rPr lang="en-IN" sz="1600"/>
              <a:t>, S. (2012). A network </a:t>
            </a:r>
            <a:r>
              <a:rPr lang="en-IN" sz="1600" err="1"/>
              <a:t>intru</a:t>
            </a:r>
            <a:r>
              <a:rPr lang="en-IN" sz="1600"/>
              <a:t> </a:t>
            </a:r>
            <a:r>
              <a:rPr lang="en-IN" sz="1600" err="1"/>
              <a:t>sion</a:t>
            </a:r>
            <a:r>
              <a:rPr lang="en-IN" sz="1600"/>
              <a:t> detection system based on a Hidden Na¨ </a:t>
            </a:r>
            <a:r>
              <a:rPr lang="en-IN" sz="1600" err="1"/>
              <a:t>ıve</a:t>
            </a:r>
            <a:r>
              <a:rPr lang="en-IN" sz="1600"/>
              <a:t> Bayes multiclass classifier. Expert Systems with Applications, 39(18), 13492–13500. https://doi.org/10.1016/j.eswa.2012.07.009 </a:t>
            </a:r>
          </a:p>
          <a:p>
            <a:pPr>
              <a:buFont typeface="Arial" panose="020B0604020202020204" pitchFamily="34" charset="0"/>
              <a:buChar char="•"/>
            </a:pPr>
            <a:r>
              <a:rPr lang="en-IN" sz="1600"/>
              <a:t>[3] Liao, H. J., Richard Lin, C. H., Lin, Y. C., &amp; Tung, K. Y. (2013). Intrusion detection system: A comprehensive review. In Journal of Network and Computer Applications (Vol. 36, Issue 1, pp. 16–24). https://doi.org/10.1016/j.jnca.2012.09.004 </a:t>
            </a:r>
          </a:p>
          <a:p>
            <a:pPr>
              <a:buFont typeface="Arial" panose="020B0604020202020204" pitchFamily="34" charset="0"/>
              <a:buChar char="•"/>
            </a:pPr>
            <a:r>
              <a:rPr lang="en-IN" sz="1600"/>
              <a:t>[4] Jang-Jaccard, J., &amp; Nepal, S. (2014). A survey of emerging threats in cybersecurity. Journal of Computer and System Sciences, 80(5), 973 993. https://doi.org/10.1016/j.jcss.2014.02.005 </a:t>
            </a:r>
          </a:p>
          <a:p>
            <a:pPr>
              <a:buFont typeface="Arial" panose="020B0604020202020204" pitchFamily="34" charset="0"/>
              <a:buChar char="•"/>
            </a:pPr>
            <a:r>
              <a:rPr lang="en-IN" sz="1600"/>
              <a:t>[5] Ahmed, M., Naser Mahmood, A., &amp; Hu, J. (2016). A survey of network anomaly detection techniques. In Journal of Network and Computer Applications (Vol. 60, pp. 19–31). Academic Press. https://doi.org/10.1016/j.jnca.2015.11.016 </a:t>
            </a:r>
          </a:p>
        </p:txBody>
      </p:sp>
      <p:sp>
        <p:nvSpPr>
          <p:cNvPr id="4" name="Slide Number Placeholder 3">
            <a:extLst>
              <a:ext uri="{FF2B5EF4-FFF2-40B4-BE49-F238E27FC236}">
                <a16:creationId xmlns:a16="http://schemas.microsoft.com/office/drawing/2014/main" id="{7BCC3ADB-3DE8-A4C4-19A9-ED39EF2013D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439447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E360-F40B-AFAD-8EA3-8BF0D7CC44F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B61819A-F087-BFA6-8A8B-FE2AAA44C15E}"/>
              </a:ext>
            </a:extLst>
          </p:cNvPr>
          <p:cNvSpPr>
            <a:spLocks noGrp="1"/>
          </p:cNvSpPr>
          <p:nvPr>
            <p:ph type="body" idx="1"/>
          </p:nvPr>
        </p:nvSpPr>
        <p:spPr/>
        <p:txBody>
          <a:bodyPr/>
          <a:lstStyle/>
          <a:p>
            <a:r>
              <a:rPr lang="en-IN" sz="1600"/>
              <a:t>[6] Yin, C., Zhu, Y., Fei, J., &amp; He, X. (2017). A Deep Learning Approach for Intrusion Detection Using Recurrent Neural Networks. IEEE Access, 5, 21954–21961. https://doi.org/10.1109/ACCESS.2017.2762418 [7] </a:t>
            </a:r>
            <a:r>
              <a:rPr lang="en-IN" sz="1600" err="1"/>
              <a:t>Khraisat</a:t>
            </a:r>
            <a:r>
              <a:rPr lang="en-IN" sz="1600"/>
              <a:t>, A., </a:t>
            </a:r>
            <a:r>
              <a:rPr lang="en-IN" sz="1600" err="1"/>
              <a:t>Gondal</a:t>
            </a:r>
            <a:r>
              <a:rPr lang="en-IN" sz="1600"/>
              <a:t>, I., </a:t>
            </a:r>
            <a:r>
              <a:rPr lang="en-IN" sz="1600" err="1"/>
              <a:t>Vamplew</a:t>
            </a:r>
            <a:r>
              <a:rPr lang="en-IN" sz="1600"/>
              <a:t>, P., &amp; </a:t>
            </a:r>
            <a:r>
              <a:rPr lang="en-IN" sz="1600" err="1"/>
              <a:t>Kamruzzaman</a:t>
            </a:r>
            <a:r>
              <a:rPr lang="en-IN" sz="1600"/>
              <a:t>, J. (2019). Sur vey of intrusion detection systems: techniques, datasets and challenges. Cybersecurity, 2(1). https://doi.org/10.1186/s42400-019-0038-7 </a:t>
            </a:r>
          </a:p>
          <a:p>
            <a:r>
              <a:rPr lang="en-IN" sz="1600"/>
              <a:t>[8] </a:t>
            </a:r>
            <a:r>
              <a:rPr lang="en-IN" sz="1600" err="1"/>
              <a:t>Maseer</a:t>
            </a:r>
            <a:r>
              <a:rPr lang="en-IN" sz="1600"/>
              <a:t>, Z. K., Yusof, R., Bahaman, N., Mostafa, S. A., &amp; </a:t>
            </a:r>
            <a:r>
              <a:rPr lang="en-IN" sz="1600" err="1"/>
              <a:t>Foozy</a:t>
            </a:r>
            <a:r>
              <a:rPr lang="en-IN" sz="1600"/>
              <a:t>, C. F. M. (2021). Benchmarking of Machine Learning for Anomaly Based Intrusion Detection Systems in the CICIDS2017 Dataset. IEEE Access, 9, 22351–22370. https://doi.org/10.1109/ACCESS.2021.3056614 </a:t>
            </a:r>
          </a:p>
          <a:p>
            <a:r>
              <a:rPr lang="en-IN" sz="1600"/>
              <a:t>[9] Nazir, A., &amp; Khan, R. A. (2021). A novel combinatorial optimization based feature selection method for network intrusion detection. Com </a:t>
            </a:r>
            <a:r>
              <a:rPr lang="en-IN" sz="1600" err="1"/>
              <a:t>puters</a:t>
            </a:r>
            <a:r>
              <a:rPr lang="en-IN" sz="1600"/>
              <a:t> and Security, 102. https://doi.org/10.1016/j.cose.2020.102164 </a:t>
            </a:r>
          </a:p>
          <a:p>
            <a:r>
              <a:rPr lang="en-IN" sz="1600"/>
              <a:t>[10] Abu Al-</a:t>
            </a:r>
            <a:r>
              <a:rPr lang="en-IN" sz="1600" err="1"/>
              <a:t>Haija</a:t>
            </a:r>
            <a:r>
              <a:rPr lang="en-IN" sz="1600"/>
              <a:t>, Q., &amp; Al-Badawi, A. (2021). Attack-Aware IoT Network Traffic Routing Leveraging Ensemble Learning. Sensors (Basel, Switzer land), 22(1). https://doi.org/10.3390/s2201024</a:t>
            </a:r>
          </a:p>
          <a:p>
            <a:endParaRPr lang="en-IN"/>
          </a:p>
        </p:txBody>
      </p:sp>
      <p:sp>
        <p:nvSpPr>
          <p:cNvPr id="4" name="Slide Number Placeholder 3">
            <a:extLst>
              <a:ext uri="{FF2B5EF4-FFF2-40B4-BE49-F238E27FC236}">
                <a16:creationId xmlns:a16="http://schemas.microsoft.com/office/drawing/2014/main" id="{ECDFF9D1-872B-0154-D6EE-7D8527DD21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284526871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C9D27E-47C5-4124-BE66-7BDC166FFA37}">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30</Slides>
  <Notes>3</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Simple Light</vt:lpstr>
      <vt:lpstr> Intrusion Detection System(IDS)</vt:lpstr>
      <vt:lpstr>Agenda   </vt:lpstr>
      <vt:lpstr>Introduction</vt:lpstr>
      <vt:lpstr>Need Analysis</vt:lpstr>
      <vt:lpstr>PowerPoint Presentation</vt:lpstr>
      <vt:lpstr>Social Impact</vt:lpstr>
      <vt:lpstr>PowerPoint Presentation</vt:lpstr>
      <vt:lpstr>Alignment with SDG Goals</vt:lpstr>
      <vt:lpstr>Existing Systems</vt:lpstr>
      <vt:lpstr>PowerPoint Presentation</vt:lpstr>
      <vt:lpstr>Proposed System</vt:lpstr>
      <vt:lpstr>Feasibility Analysis</vt:lpstr>
      <vt:lpstr>Benefits of Proposed System </vt:lpstr>
      <vt:lpstr>Requirement description</vt:lpstr>
      <vt:lpstr>PowerPoint Presentation</vt:lpstr>
      <vt:lpstr>Analysis modelling </vt:lpstr>
      <vt:lpstr>Data Flow Diagram</vt:lpstr>
      <vt:lpstr>Level 1 User DFD</vt:lpstr>
      <vt:lpstr>Level 1 ADMIN DFD</vt:lpstr>
      <vt:lpstr>Entity Relationship Diagram</vt:lpstr>
      <vt:lpstr>Use Case Diagram </vt:lpstr>
      <vt:lpstr>Sequence Diagram </vt:lpstr>
      <vt:lpstr>Class Diagram</vt:lpstr>
      <vt:lpstr>Plan of Work</vt:lpstr>
      <vt:lpstr>Timeline </vt:lpstr>
      <vt:lpstr>Anticipated Outcomes</vt:lpstr>
      <vt:lpstr>User Interface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Josaiah Dkhar</dc:creator>
  <cp:revision>2</cp:revision>
  <dcterms:modified xsi:type="dcterms:W3CDTF">2024-12-05T16:31:35Z</dcterms:modified>
</cp:coreProperties>
</file>